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25"/>
  </p:notesMasterIdLst>
  <p:sldIdLst>
    <p:sldId id="256" r:id="rId2"/>
    <p:sldId id="278" r:id="rId3"/>
    <p:sldId id="258" r:id="rId4"/>
    <p:sldId id="279" r:id="rId5"/>
    <p:sldId id="257" r:id="rId6"/>
    <p:sldId id="259" r:id="rId7"/>
    <p:sldId id="262" r:id="rId8"/>
    <p:sldId id="260" r:id="rId9"/>
    <p:sldId id="263" r:id="rId10"/>
    <p:sldId id="271" r:id="rId11"/>
    <p:sldId id="264" r:id="rId12"/>
    <p:sldId id="265" r:id="rId13"/>
    <p:sldId id="268" r:id="rId14"/>
    <p:sldId id="270" r:id="rId15"/>
    <p:sldId id="267" r:id="rId16"/>
    <p:sldId id="269" r:id="rId17"/>
    <p:sldId id="272" r:id="rId18"/>
    <p:sldId id="274" r:id="rId19"/>
    <p:sldId id="275" r:id="rId20"/>
    <p:sldId id="276" r:id="rId21"/>
    <p:sldId id="280" r:id="rId22"/>
    <p:sldId id="283" r:id="rId23"/>
    <p:sldId id="28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2DED02-0F6F-4151-BACF-9E69F9B9CB0D}" v="185" dt="2023-05-01T19:38:25.1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74590" autoAdjust="0"/>
  </p:normalViewPr>
  <p:slideViewPr>
    <p:cSldViewPr snapToGrid="0">
      <p:cViewPr varScale="1">
        <p:scale>
          <a:sx n="82" d="100"/>
          <a:sy n="82" d="100"/>
        </p:scale>
        <p:origin x="978" y="96"/>
      </p:cViewPr>
      <p:guideLst/>
    </p:cSldViewPr>
  </p:slideViewPr>
  <p:outlineViewPr>
    <p:cViewPr>
      <p:scale>
        <a:sx n="33" d="100"/>
        <a:sy n="33" d="100"/>
      </p:scale>
      <p:origin x="0" y="-156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CC8471-DB04-4A69-9202-FE9D16F3BEFB}"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1BFA6C58-6EB5-4ED3-AA37-3CAB47445FBA}">
      <dgm:prSet/>
      <dgm:spPr/>
      <dgm:t>
        <a:bodyPr/>
        <a:lstStyle/>
        <a:p>
          <a:pPr>
            <a:defRPr b="1"/>
          </a:pPr>
          <a:r>
            <a:rPr lang="tr-TR" dirty="0"/>
            <a:t>Added expectation factor</a:t>
          </a:r>
        </a:p>
      </dgm:t>
    </dgm:pt>
    <dgm:pt modelId="{9E2FDE61-441E-40AC-BE9A-765766902DC6}" type="parTrans" cxnId="{F10A8290-F857-4BAD-91BF-6F925F16805E}">
      <dgm:prSet/>
      <dgm:spPr/>
      <dgm:t>
        <a:bodyPr/>
        <a:lstStyle/>
        <a:p>
          <a:endParaRPr lang="en-US"/>
        </a:p>
      </dgm:t>
    </dgm:pt>
    <dgm:pt modelId="{6448AD31-2523-456A-9B3F-BD929FE4CC22}" type="sibTrans" cxnId="{F10A8290-F857-4BAD-91BF-6F925F16805E}">
      <dgm:prSet/>
      <dgm:spPr/>
      <dgm:t>
        <a:bodyPr/>
        <a:lstStyle/>
        <a:p>
          <a:endParaRPr lang="en-US"/>
        </a:p>
      </dgm:t>
    </dgm:pt>
    <dgm:pt modelId="{345845BE-1C2B-472F-AC35-FD05A6687E20}">
      <dgm:prSet/>
      <dgm:spPr/>
      <dgm:t>
        <a:bodyPr/>
        <a:lstStyle/>
        <a:p>
          <a:pPr>
            <a:defRPr b="1"/>
          </a:pPr>
          <a:r>
            <a:rPr lang="tr-TR" dirty="0"/>
            <a:t>Measured perceived time of</a:t>
          </a:r>
          <a:endParaRPr lang="en-US" dirty="0"/>
        </a:p>
      </dgm:t>
    </dgm:pt>
    <dgm:pt modelId="{285AC7EA-66EE-40CD-88F1-CE1D12BB0036}" type="parTrans" cxnId="{1CE62747-1484-481F-B607-E4F38A31FAFD}">
      <dgm:prSet/>
      <dgm:spPr/>
      <dgm:t>
        <a:bodyPr/>
        <a:lstStyle/>
        <a:p>
          <a:endParaRPr lang="en-US"/>
        </a:p>
      </dgm:t>
    </dgm:pt>
    <dgm:pt modelId="{5F26DE1E-7452-44AB-94B3-72A3B10E3393}" type="sibTrans" cxnId="{1CE62747-1484-481F-B607-E4F38A31FAFD}">
      <dgm:prSet/>
      <dgm:spPr/>
      <dgm:t>
        <a:bodyPr/>
        <a:lstStyle/>
        <a:p>
          <a:endParaRPr lang="en-US"/>
        </a:p>
      </dgm:t>
    </dgm:pt>
    <dgm:pt modelId="{13312228-A4C4-4C70-BE0C-D7BFDEA4F9BB}">
      <dgm:prSet/>
      <dgm:spPr/>
      <dgm:t>
        <a:bodyPr/>
        <a:lstStyle/>
        <a:p>
          <a:r>
            <a:rPr lang="tr-TR" dirty="0"/>
            <a:t>Expected</a:t>
          </a:r>
          <a:endParaRPr lang="en-US" dirty="0"/>
        </a:p>
      </dgm:t>
    </dgm:pt>
    <dgm:pt modelId="{4B6CFF79-E700-4E99-9694-536654B7093E}" type="parTrans" cxnId="{7C64F814-54E5-4C12-A3AC-2799E52A2839}">
      <dgm:prSet/>
      <dgm:spPr/>
      <dgm:t>
        <a:bodyPr/>
        <a:lstStyle/>
        <a:p>
          <a:endParaRPr lang="en-US"/>
        </a:p>
      </dgm:t>
    </dgm:pt>
    <dgm:pt modelId="{DDCD7823-46F9-4E89-B121-C305C8FE2744}" type="sibTrans" cxnId="{7C64F814-54E5-4C12-A3AC-2799E52A2839}">
      <dgm:prSet/>
      <dgm:spPr/>
      <dgm:t>
        <a:bodyPr/>
        <a:lstStyle/>
        <a:p>
          <a:endParaRPr lang="en-US"/>
        </a:p>
      </dgm:t>
    </dgm:pt>
    <dgm:pt modelId="{2D566655-95C1-4DAB-8A57-C5F5EB7E844F}">
      <dgm:prSet/>
      <dgm:spPr/>
      <dgm:t>
        <a:bodyPr/>
        <a:lstStyle/>
        <a:p>
          <a:pPr>
            <a:defRPr b="1"/>
          </a:pPr>
          <a:r>
            <a:rPr lang="tr-TR" dirty="0"/>
            <a:t>Reaction time differences</a:t>
          </a:r>
          <a:endParaRPr lang="en-US" dirty="0"/>
        </a:p>
      </dgm:t>
    </dgm:pt>
    <dgm:pt modelId="{A611C517-1FFA-4C92-916A-FC25CEC64B83}" type="parTrans" cxnId="{C4803CD0-F5C2-4B58-815B-7247E35827B6}">
      <dgm:prSet/>
      <dgm:spPr/>
      <dgm:t>
        <a:bodyPr/>
        <a:lstStyle/>
        <a:p>
          <a:endParaRPr lang="en-US"/>
        </a:p>
      </dgm:t>
    </dgm:pt>
    <dgm:pt modelId="{50D0AC7E-85C8-4432-B487-7711D7578DB9}" type="sibTrans" cxnId="{C4803CD0-F5C2-4B58-815B-7247E35827B6}">
      <dgm:prSet/>
      <dgm:spPr/>
      <dgm:t>
        <a:bodyPr/>
        <a:lstStyle/>
        <a:p>
          <a:endParaRPr lang="en-US"/>
        </a:p>
      </dgm:t>
    </dgm:pt>
    <dgm:pt modelId="{756A0A64-44B9-4A6B-859C-7D7F64B9C56A}">
      <dgm:prSet/>
      <dgm:spPr/>
      <dgm:t>
        <a:bodyPr/>
        <a:lstStyle/>
        <a:p>
          <a:r>
            <a:rPr lang="tr-TR" dirty="0"/>
            <a:t>Unexpected</a:t>
          </a:r>
          <a:endParaRPr lang="en-US" dirty="0"/>
        </a:p>
      </dgm:t>
    </dgm:pt>
    <dgm:pt modelId="{85A9007F-1196-4118-9255-638C4214A5B3}" type="sibTrans" cxnId="{4C14325B-1968-4F5D-99AA-6F3195B0DE62}">
      <dgm:prSet/>
      <dgm:spPr/>
      <dgm:t>
        <a:bodyPr/>
        <a:lstStyle/>
        <a:p>
          <a:endParaRPr lang="en-US"/>
        </a:p>
      </dgm:t>
    </dgm:pt>
    <dgm:pt modelId="{09C471F1-BB5A-4879-AF14-FF84E54132C9}" type="parTrans" cxnId="{4C14325B-1968-4F5D-99AA-6F3195B0DE62}">
      <dgm:prSet/>
      <dgm:spPr/>
      <dgm:t>
        <a:bodyPr/>
        <a:lstStyle/>
        <a:p>
          <a:endParaRPr lang="en-US"/>
        </a:p>
      </dgm:t>
    </dgm:pt>
    <dgm:pt modelId="{6BB84D00-90DE-4EE4-85CD-F93EF0E105C9}" type="pres">
      <dgm:prSet presAssocID="{22CC8471-DB04-4A69-9202-FE9D16F3BEFB}" presName="root" presStyleCnt="0">
        <dgm:presLayoutVars>
          <dgm:dir/>
          <dgm:resizeHandles val="exact"/>
        </dgm:presLayoutVars>
      </dgm:prSet>
      <dgm:spPr/>
    </dgm:pt>
    <dgm:pt modelId="{73649E2D-053E-48AA-ACC2-CA05CEAC74F6}" type="pres">
      <dgm:prSet presAssocID="{1BFA6C58-6EB5-4ED3-AA37-3CAB47445FBA}" presName="compNode" presStyleCnt="0"/>
      <dgm:spPr/>
    </dgm:pt>
    <dgm:pt modelId="{8853D5AD-B269-42AD-A181-E7F45D38355B}" type="pres">
      <dgm:prSet presAssocID="{1BFA6C58-6EB5-4ED3-AA37-3CAB47445FB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EF92D3B3-2966-4D7E-996A-8CDCB8B39431}" type="pres">
      <dgm:prSet presAssocID="{1BFA6C58-6EB5-4ED3-AA37-3CAB47445FBA}" presName="iconSpace" presStyleCnt="0"/>
      <dgm:spPr/>
    </dgm:pt>
    <dgm:pt modelId="{8B2DF3E6-EEFD-4ACD-9789-4BD5B4A234E8}" type="pres">
      <dgm:prSet presAssocID="{1BFA6C58-6EB5-4ED3-AA37-3CAB47445FBA}" presName="parTx" presStyleLbl="revTx" presStyleIdx="0" presStyleCnt="6">
        <dgm:presLayoutVars>
          <dgm:chMax val="0"/>
          <dgm:chPref val="0"/>
        </dgm:presLayoutVars>
      </dgm:prSet>
      <dgm:spPr/>
    </dgm:pt>
    <dgm:pt modelId="{7363CA6A-8366-4E21-957B-BEBD3928E1C1}" type="pres">
      <dgm:prSet presAssocID="{1BFA6C58-6EB5-4ED3-AA37-3CAB47445FBA}" presName="txSpace" presStyleCnt="0"/>
      <dgm:spPr/>
    </dgm:pt>
    <dgm:pt modelId="{8B75023F-8B36-47B6-8118-D7D96BA35B27}" type="pres">
      <dgm:prSet presAssocID="{1BFA6C58-6EB5-4ED3-AA37-3CAB47445FBA}" presName="desTx" presStyleLbl="revTx" presStyleIdx="1" presStyleCnt="6">
        <dgm:presLayoutVars/>
      </dgm:prSet>
      <dgm:spPr/>
    </dgm:pt>
    <dgm:pt modelId="{6A91D7F6-D123-405B-A33F-985C1AFA93FD}" type="pres">
      <dgm:prSet presAssocID="{6448AD31-2523-456A-9B3F-BD929FE4CC22}" presName="sibTrans" presStyleCnt="0"/>
      <dgm:spPr/>
    </dgm:pt>
    <dgm:pt modelId="{FF489634-561C-4E65-940D-C75A87D7C62A}" type="pres">
      <dgm:prSet presAssocID="{345845BE-1C2B-472F-AC35-FD05A6687E20}" presName="compNode" presStyleCnt="0"/>
      <dgm:spPr/>
    </dgm:pt>
    <dgm:pt modelId="{B503AD38-394D-41FD-A117-4C6228CC0CEE}" type="pres">
      <dgm:prSet presAssocID="{345845BE-1C2B-472F-AC35-FD05A6687E2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D9BF17F9-62E2-4FA0-8FE2-7ED19A40BADC}" type="pres">
      <dgm:prSet presAssocID="{345845BE-1C2B-472F-AC35-FD05A6687E20}" presName="iconSpace" presStyleCnt="0"/>
      <dgm:spPr/>
    </dgm:pt>
    <dgm:pt modelId="{0B6AAD53-4C63-45BD-8742-7A91CFB7B6EB}" type="pres">
      <dgm:prSet presAssocID="{345845BE-1C2B-472F-AC35-FD05A6687E20}" presName="parTx" presStyleLbl="revTx" presStyleIdx="2" presStyleCnt="6">
        <dgm:presLayoutVars>
          <dgm:chMax val="0"/>
          <dgm:chPref val="0"/>
        </dgm:presLayoutVars>
      </dgm:prSet>
      <dgm:spPr/>
    </dgm:pt>
    <dgm:pt modelId="{6F2B4147-105C-478C-ADD3-AA62A8F1DE11}" type="pres">
      <dgm:prSet presAssocID="{345845BE-1C2B-472F-AC35-FD05A6687E20}" presName="txSpace" presStyleCnt="0"/>
      <dgm:spPr/>
    </dgm:pt>
    <dgm:pt modelId="{6A01BC1B-BBFF-47BC-B598-A1751E9FDB58}" type="pres">
      <dgm:prSet presAssocID="{345845BE-1C2B-472F-AC35-FD05A6687E20}" presName="desTx" presStyleLbl="revTx" presStyleIdx="3" presStyleCnt="6">
        <dgm:presLayoutVars/>
      </dgm:prSet>
      <dgm:spPr/>
    </dgm:pt>
    <dgm:pt modelId="{D7D214B4-6A45-47D1-B1E7-FD91C26538E4}" type="pres">
      <dgm:prSet presAssocID="{5F26DE1E-7452-44AB-94B3-72A3B10E3393}" presName="sibTrans" presStyleCnt="0"/>
      <dgm:spPr/>
    </dgm:pt>
    <dgm:pt modelId="{4545EFE0-5371-46BA-BEF3-E1001F7E0D39}" type="pres">
      <dgm:prSet presAssocID="{2D566655-95C1-4DAB-8A57-C5F5EB7E844F}" presName="compNode" presStyleCnt="0"/>
      <dgm:spPr/>
    </dgm:pt>
    <dgm:pt modelId="{0EB953CB-7022-4157-B3AE-6B2CCB9ADC82}" type="pres">
      <dgm:prSet presAssocID="{2D566655-95C1-4DAB-8A57-C5F5EB7E844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ock"/>
        </a:ext>
      </dgm:extLst>
    </dgm:pt>
    <dgm:pt modelId="{2003207A-605B-4ED3-9862-1103C3484C2E}" type="pres">
      <dgm:prSet presAssocID="{2D566655-95C1-4DAB-8A57-C5F5EB7E844F}" presName="iconSpace" presStyleCnt="0"/>
      <dgm:spPr/>
    </dgm:pt>
    <dgm:pt modelId="{46DE0E4D-DEBF-4C18-836C-43CA9D3B6DEF}" type="pres">
      <dgm:prSet presAssocID="{2D566655-95C1-4DAB-8A57-C5F5EB7E844F}" presName="parTx" presStyleLbl="revTx" presStyleIdx="4" presStyleCnt="6">
        <dgm:presLayoutVars>
          <dgm:chMax val="0"/>
          <dgm:chPref val="0"/>
        </dgm:presLayoutVars>
      </dgm:prSet>
      <dgm:spPr/>
    </dgm:pt>
    <dgm:pt modelId="{31FE429E-36C4-48C7-BF84-F8B41E84F0DE}" type="pres">
      <dgm:prSet presAssocID="{2D566655-95C1-4DAB-8A57-C5F5EB7E844F}" presName="txSpace" presStyleCnt="0"/>
      <dgm:spPr/>
    </dgm:pt>
    <dgm:pt modelId="{1889063C-3CAE-4637-8BF4-3D6B3CE47E42}" type="pres">
      <dgm:prSet presAssocID="{2D566655-95C1-4DAB-8A57-C5F5EB7E844F}" presName="desTx" presStyleLbl="revTx" presStyleIdx="5" presStyleCnt="6">
        <dgm:presLayoutVars/>
      </dgm:prSet>
      <dgm:spPr/>
    </dgm:pt>
  </dgm:ptLst>
  <dgm:cxnLst>
    <dgm:cxn modelId="{7C64F814-54E5-4C12-A3AC-2799E52A2839}" srcId="{345845BE-1C2B-472F-AC35-FD05A6687E20}" destId="{13312228-A4C4-4C70-BE0C-D7BFDEA4F9BB}" srcOrd="0" destOrd="0" parTransId="{4B6CFF79-E700-4E99-9694-536654B7093E}" sibTransId="{DDCD7823-46F9-4E89-B121-C305C8FE2744}"/>
    <dgm:cxn modelId="{4E888A30-AB22-4201-9F98-8E28147B6288}" type="presOf" srcId="{1BFA6C58-6EB5-4ED3-AA37-3CAB47445FBA}" destId="{8B2DF3E6-EEFD-4ACD-9789-4BD5B4A234E8}" srcOrd="0" destOrd="0" presId="urn:microsoft.com/office/officeart/2018/5/layout/CenteredIconLabelDescriptionList"/>
    <dgm:cxn modelId="{4C14325B-1968-4F5D-99AA-6F3195B0DE62}" srcId="{345845BE-1C2B-472F-AC35-FD05A6687E20}" destId="{756A0A64-44B9-4A6B-859C-7D7F64B9C56A}" srcOrd="1" destOrd="0" parTransId="{09C471F1-BB5A-4879-AF14-FF84E54132C9}" sibTransId="{85A9007F-1196-4118-9255-638C4214A5B3}"/>
    <dgm:cxn modelId="{EB0BB25B-6261-4A02-BA79-CDE2116AE8F0}" type="presOf" srcId="{756A0A64-44B9-4A6B-859C-7D7F64B9C56A}" destId="{6A01BC1B-BBFF-47BC-B598-A1751E9FDB58}" srcOrd="0" destOrd="1" presId="urn:microsoft.com/office/officeart/2018/5/layout/CenteredIconLabelDescriptionList"/>
    <dgm:cxn modelId="{1CE62747-1484-481F-B607-E4F38A31FAFD}" srcId="{22CC8471-DB04-4A69-9202-FE9D16F3BEFB}" destId="{345845BE-1C2B-472F-AC35-FD05A6687E20}" srcOrd="1" destOrd="0" parTransId="{285AC7EA-66EE-40CD-88F1-CE1D12BB0036}" sibTransId="{5F26DE1E-7452-44AB-94B3-72A3B10E3393}"/>
    <dgm:cxn modelId="{76ABA355-7E70-4511-BED4-1EAFE61556D5}" type="presOf" srcId="{13312228-A4C4-4C70-BE0C-D7BFDEA4F9BB}" destId="{6A01BC1B-BBFF-47BC-B598-A1751E9FDB58}" srcOrd="0" destOrd="0" presId="urn:microsoft.com/office/officeart/2018/5/layout/CenteredIconLabelDescriptionList"/>
    <dgm:cxn modelId="{F10A8290-F857-4BAD-91BF-6F925F16805E}" srcId="{22CC8471-DB04-4A69-9202-FE9D16F3BEFB}" destId="{1BFA6C58-6EB5-4ED3-AA37-3CAB47445FBA}" srcOrd="0" destOrd="0" parTransId="{9E2FDE61-441E-40AC-BE9A-765766902DC6}" sibTransId="{6448AD31-2523-456A-9B3F-BD929FE4CC22}"/>
    <dgm:cxn modelId="{1242029C-F780-4304-BABB-C333DEC26912}" type="presOf" srcId="{2D566655-95C1-4DAB-8A57-C5F5EB7E844F}" destId="{46DE0E4D-DEBF-4C18-836C-43CA9D3B6DEF}" srcOrd="0" destOrd="0" presId="urn:microsoft.com/office/officeart/2018/5/layout/CenteredIconLabelDescriptionList"/>
    <dgm:cxn modelId="{C4803CD0-F5C2-4B58-815B-7247E35827B6}" srcId="{22CC8471-DB04-4A69-9202-FE9D16F3BEFB}" destId="{2D566655-95C1-4DAB-8A57-C5F5EB7E844F}" srcOrd="2" destOrd="0" parTransId="{A611C517-1FFA-4C92-916A-FC25CEC64B83}" sibTransId="{50D0AC7E-85C8-4432-B487-7711D7578DB9}"/>
    <dgm:cxn modelId="{7D99DEE8-4908-48FE-ACFD-5FE40281A72D}" type="presOf" srcId="{22CC8471-DB04-4A69-9202-FE9D16F3BEFB}" destId="{6BB84D00-90DE-4EE4-85CD-F93EF0E105C9}" srcOrd="0" destOrd="0" presId="urn:microsoft.com/office/officeart/2018/5/layout/CenteredIconLabelDescriptionList"/>
    <dgm:cxn modelId="{C1C0A4FC-A1CC-4971-BC59-04BBECE83344}" type="presOf" srcId="{345845BE-1C2B-472F-AC35-FD05A6687E20}" destId="{0B6AAD53-4C63-45BD-8742-7A91CFB7B6EB}" srcOrd="0" destOrd="0" presId="urn:microsoft.com/office/officeart/2018/5/layout/CenteredIconLabelDescriptionList"/>
    <dgm:cxn modelId="{486F6DDF-A13E-4340-92C2-C8BF2215C831}" type="presParOf" srcId="{6BB84D00-90DE-4EE4-85CD-F93EF0E105C9}" destId="{73649E2D-053E-48AA-ACC2-CA05CEAC74F6}" srcOrd="0" destOrd="0" presId="urn:microsoft.com/office/officeart/2018/5/layout/CenteredIconLabelDescriptionList"/>
    <dgm:cxn modelId="{796FAE1C-2696-4F4C-810F-82FEEFBF6BFA}" type="presParOf" srcId="{73649E2D-053E-48AA-ACC2-CA05CEAC74F6}" destId="{8853D5AD-B269-42AD-A181-E7F45D38355B}" srcOrd="0" destOrd="0" presId="urn:microsoft.com/office/officeart/2018/5/layout/CenteredIconLabelDescriptionList"/>
    <dgm:cxn modelId="{AEAF3607-CACD-4ACE-AE1F-B047F464BA44}" type="presParOf" srcId="{73649E2D-053E-48AA-ACC2-CA05CEAC74F6}" destId="{EF92D3B3-2966-4D7E-996A-8CDCB8B39431}" srcOrd="1" destOrd="0" presId="urn:microsoft.com/office/officeart/2018/5/layout/CenteredIconLabelDescriptionList"/>
    <dgm:cxn modelId="{6C9466E4-A996-4FB8-84AC-7BC9E93E7542}" type="presParOf" srcId="{73649E2D-053E-48AA-ACC2-CA05CEAC74F6}" destId="{8B2DF3E6-EEFD-4ACD-9789-4BD5B4A234E8}" srcOrd="2" destOrd="0" presId="urn:microsoft.com/office/officeart/2018/5/layout/CenteredIconLabelDescriptionList"/>
    <dgm:cxn modelId="{E761307A-0064-4479-9652-FD90E5B851C9}" type="presParOf" srcId="{73649E2D-053E-48AA-ACC2-CA05CEAC74F6}" destId="{7363CA6A-8366-4E21-957B-BEBD3928E1C1}" srcOrd="3" destOrd="0" presId="urn:microsoft.com/office/officeart/2018/5/layout/CenteredIconLabelDescriptionList"/>
    <dgm:cxn modelId="{EA034635-8146-40A5-884E-76F740E9C4E5}" type="presParOf" srcId="{73649E2D-053E-48AA-ACC2-CA05CEAC74F6}" destId="{8B75023F-8B36-47B6-8118-D7D96BA35B27}" srcOrd="4" destOrd="0" presId="urn:microsoft.com/office/officeart/2018/5/layout/CenteredIconLabelDescriptionList"/>
    <dgm:cxn modelId="{65F246DB-B04B-42C2-9991-1EC9BD19DCF9}" type="presParOf" srcId="{6BB84D00-90DE-4EE4-85CD-F93EF0E105C9}" destId="{6A91D7F6-D123-405B-A33F-985C1AFA93FD}" srcOrd="1" destOrd="0" presId="urn:microsoft.com/office/officeart/2018/5/layout/CenteredIconLabelDescriptionList"/>
    <dgm:cxn modelId="{7D4E8335-36D0-4C67-B00C-BD3ED9AF98CB}" type="presParOf" srcId="{6BB84D00-90DE-4EE4-85CD-F93EF0E105C9}" destId="{FF489634-561C-4E65-940D-C75A87D7C62A}" srcOrd="2" destOrd="0" presId="urn:microsoft.com/office/officeart/2018/5/layout/CenteredIconLabelDescriptionList"/>
    <dgm:cxn modelId="{0FAD440F-A6CA-45DF-985D-5CFBB1157221}" type="presParOf" srcId="{FF489634-561C-4E65-940D-C75A87D7C62A}" destId="{B503AD38-394D-41FD-A117-4C6228CC0CEE}" srcOrd="0" destOrd="0" presId="urn:microsoft.com/office/officeart/2018/5/layout/CenteredIconLabelDescriptionList"/>
    <dgm:cxn modelId="{F802962A-5619-44A1-A3EC-42CFE1C2CD0B}" type="presParOf" srcId="{FF489634-561C-4E65-940D-C75A87D7C62A}" destId="{D9BF17F9-62E2-4FA0-8FE2-7ED19A40BADC}" srcOrd="1" destOrd="0" presId="urn:microsoft.com/office/officeart/2018/5/layout/CenteredIconLabelDescriptionList"/>
    <dgm:cxn modelId="{7F201D28-978D-46B9-8AC2-7D87637216CD}" type="presParOf" srcId="{FF489634-561C-4E65-940D-C75A87D7C62A}" destId="{0B6AAD53-4C63-45BD-8742-7A91CFB7B6EB}" srcOrd="2" destOrd="0" presId="urn:microsoft.com/office/officeart/2018/5/layout/CenteredIconLabelDescriptionList"/>
    <dgm:cxn modelId="{B8F0EBDB-1233-4F3E-8804-6C6E72A50179}" type="presParOf" srcId="{FF489634-561C-4E65-940D-C75A87D7C62A}" destId="{6F2B4147-105C-478C-ADD3-AA62A8F1DE11}" srcOrd="3" destOrd="0" presId="urn:microsoft.com/office/officeart/2018/5/layout/CenteredIconLabelDescriptionList"/>
    <dgm:cxn modelId="{B4C7B134-5DAB-4A05-BA1D-8E60F5CC2277}" type="presParOf" srcId="{FF489634-561C-4E65-940D-C75A87D7C62A}" destId="{6A01BC1B-BBFF-47BC-B598-A1751E9FDB58}" srcOrd="4" destOrd="0" presId="urn:microsoft.com/office/officeart/2018/5/layout/CenteredIconLabelDescriptionList"/>
    <dgm:cxn modelId="{493BE94F-3FB2-401F-962F-A61EF4CF7995}" type="presParOf" srcId="{6BB84D00-90DE-4EE4-85CD-F93EF0E105C9}" destId="{D7D214B4-6A45-47D1-B1E7-FD91C26538E4}" srcOrd="3" destOrd="0" presId="urn:microsoft.com/office/officeart/2018/5/layout/CenteredIconLabelDescriptionList"/>
    <dgm:cxn modelId="{B0FA3237-CC4B-4241-83BA-69ED4F1959B3}" type="presParOf" srcId="{6BB84D00-90DE-4EE4-85CD-F93EF0E105C9}" destId="{4545EFE0-5371-46BA-BEF3-E1001F7E0D39}" srcOrd="4" destOrd="0" presId="urn:microsoft.com/office/officeart/2018/5/layout/CenteredIconLabelDescriptionList"/>
    <dgm:cxn modelId="{FC3B7BBD-4196-4F9C-B59F-14998D593616}" type="presParOf" srcId="{4545EFE0-5371-46BA-BEF3-E1001F7E0D39}" destId="{0EB953CB-7022-4157-B3AE-6B2CCB9ADC82}" srcOrd="0" destOrd="0" presId="urn:microsoft.com/office/officeart/2018/5/layout/CenteredIconLabelDescriptionList"/>
    <dgm:cxn modelId="{4B81A892-9A38-4F5D-93A6-6E98918BD4DC}" type="presParOf" srcId="{4545EFE0-5371-46BA-BEF3-E1001F7E0D39}" destId="{2003207A-605B-4ED3-9862-1103C3484C2E}" srcOrd="1" destOrd="0" presId="urn:microsoft.com/office/officeart/2018/5/layout/CenteredIconLabelDescriptionList"/>
    <dgm:cxn modelId="{3D5790A8-967F-4404-BB34-9BAE460FDD74}" type="presParOf" srcId="{4545EFE0-5371-46BA-BEF3-E1001F7E0D39}" destId="{46DE0E4D-DEBF-4C18-836C-43CA9D3B6DEF}" srcOrd="2" destOrd="0" presId="urn:microsoft.com/office/officeart/2018/5/layout/CenteredIconLabelDescriptionList"/>
    <dgm:cxn modelId="{696DE721-5A2D-444B-8672-0EF86F003ADB}" type="presParOf" srcId="{4545EFE0-5371-46BA-BEF3-E1001F7E0D39}" destId="{31FE429E-36C4-48C7-BF84-F8B41E84F0DE}" srcOrd="3" destOrd="0" presId="urn:microsoft.com/office/officeart/2018/5/layout/CenteredIconLabelDescriptionList"/>
    <dgm:cxn modelId="{A7FB5F10-D16A-409F-9E37-50D4C6D572E9}" type="presParOf" srcId="{4545EFE0-5371-46BA-BEF3-E1001F7E0D39}" destId="{1889063C-3CAE-4637-8BF4-3D6B3CE47E42}"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53D5AD-B269-42AD-A181-E7F45D38355B}">
      <dsp:nvSpPr>
        <dsp:cNvPr id="0" name=""/>
        <dsp:cNvSpPr/>
      </dsp:nvSpPr>
      <dsp:spPr>
        <a:xfrm>
          <a:off x="949965" y="850232"/>
          <a:ext cx="1020304" cy="10203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2DF3E6-EEFD-4ACD-9789-4BD5B4A234E8}">
      <dsp:nvSpPr>
        <dsp:cNvPr id="0" name=""/>
        <dsp:cNvSpPr/>
      </dsp:nvSpPr>
      <dsp:spPr>
        <a:xfrm>
          <a:off x="2539" y="1955497"/>
          <a:ext cx="2915156" cy="4372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tr-TR" sz="1600" kern="1200" dirty="0"/>
            <a:t>Added expectation factor</a:t>
          </a:r>
        </a:p>
      </dsp:txBody>
      <dsp:txXfrm>
        <a:off x="2539" y="1955497"/>
        <a:ext cx="2915156" cy="437273"/>
      </dsp:txXfrm>
    </dsp:sp>
    <dsp:sp modelId="{8B75023F-8B36-47B6-8118-D7D96BA35B27}">
      <dsp:nvSpPr>
        <dsp:cNvPr id="0" name=""/>
        <dsp:cNvSpPr/>
      </dsp:nvSpPr>
      <dsp:spPr>
        <a:xfrm>
          <a:off x="2539" y="2432287"/>
          <a:ext cx="2915156" cy="393771"/>
        </a:xfrm>
        <a:prstGeom prst="rect">
          <a:avLst/>
        </a:prstGeom>
        <a:noFill/>
        <a:ln>
          <a:noFill/>
        </a:ln>
        <a:effectLst/>
      </dsp:spPr>
      <dsp:style>
        <a:lnRef idx="0">
          <a:scrgbClr r="0" g="0" b="0"/>
        </a:lnRef>
        <a:fillRef idx="0">
          <a:scrgbClr r="0" g="0" b="0"/>
        </a:fillRef>
        <a:effectRef idx="0">
          <a:scrgbClr r="0" g="0" b="0"/>
        </a:effectRef>
        <a:fontRef idx="minor"/>
      </dsp:style>
    </dsp:sp>
    <dsp:sp modelId="{B503AD38-394D-41FD-A117-4C6228CC0CEE}">
      <dsp:nvSpPr>
        <dsp:cNvPr id="0" name=""/>
        <dsp:cNvSpPr/>
      </dsp:nvSpPr>
      <dsp:spPr>
        <a:xfrm>
          <a:off x="4375274" y="850232"/>
          <a:ext cx="1020304" cy="10203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6AAD53-4C63-45BD-8742-7A91CFB7B6EB}">
      <dsp:nvSpPr>
        <dsp:cNvPr id="0" name=""/>
        <dsp:cNvSpPr/>
      </dsp:nvSpPr>
      <dsp:spPr>
        <a:xfrm>
          <a:off x="3427848" y="1955497"/>
          <a:ext cx="2915156" cy="4372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tr-TR" sz="1600" kern="1200" dirty="0"/>
            <a:t>Measured perceived time of</a:t>
          </a:r>
          <a:endParaRPr lang="en-US" sz="1600" kern="1200" dirty="0"/>
        </a:p>
      </dsp:txBody>
      <dsp:txXfrm>
        <a:off x="3427848" y="1955497"/>
        <a:ext cx="2915156" cy="437273"/>
      </dsp:txXfrm>
    </dsp:sp>
    <dsp:sp modelId="{6A01BC1B-BBFF-47BC-B598-A1751E9FDB58}">
      <dsp:nvSpPr>
        <dsp:cNvPr id="0" name=""/>
        <dsp:cNvSpPr/>
      </dsp:nvSpPr>
      <dsp:spPr>
        <a:xfrm>
          <a:off x="3427848" y="2432287"/>
          <a:ext cx="2915156" cy="3937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tr-TR" sz="1200" kern="1200" dirty="0"/>
            <a:t>Expected</a:t>
          </a:r>
          <a:endParaRPr lang="en-US" sz="1200" kern="1200" dirty="0"/>
        </a:p>
        <a:p>
          <a:pPr marL="0" lvl="0" indent="0" algn="ctr" defTabSz="533400">
            <a:lnSpc>
              <a:spcPct val="90000"/>
            </a:lnSpc>
            <a:spcBef>
              <a:spcPct val="0"/>
            </a:spcBef>
            <a:spcAft>
              <a:spcPct val="35000"/>
            </a:spcAft>
            <a:buNone/>
          </a:pPr>
          <a:r>
            <a:rPr lang="tr-TR" sz="1200" kern="1200" dirty="0"/>
            <a:t>Unexpected</a:t>
          </a:r>
          <a:endParaRPr lang="en-US" sz="1200" kern="1200" dirty="0"/>
        </a:p>
      </dsp:txBody>
      <dsp:txXfrm>
        <a:off x="3427848" y="2432287"/>
        <a:ext cx="2915156" cy="393771"/>
      </dsp:txXfrm>
    </dsp:sp>
    <dsp:sp modelId="{0EB953CB-7022-4157-B3AE-6B2CCB9ADC82}">
      <dsp:nvSpPr>
        <dsp:cNvPr id="0" name=""/>
        <dsp:cNvSpPr/>
      </dsp:nvSpPr>
      <dsp:spPr>
        <a:xfrm>
          <a:off x="7800582" y="850232"/>
          <a:ext cx="1020304" cy="10203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DE0E4D-DEBF-4C18-836C-43CA9D3B6DEF}">
      <dsp:nvSpPr>
        <dsp:cNvPr id="0" name=""/>
        <dsp:cNvSpPr/>
      </dsp:nvSpPr>
      <dsp:spPr>
        <a:xfrm>
          <a:off x="6853156" y="1955497"/>
          <a:ext cx="2915156" cy="4372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defRPr b="1"/>
          </a:pPr>
          <a:r>
            <a:rPr lang="tr-TR" sz="1600" kern="1200" dirty="0"/>
            <a:t>Reaction time differences</a:t>
          </a:r>
          <a:endParaRPr lang="en-US" sz="1600" kern="1200" dirty="0"/>
        </a:p>
      </dsp:txBody>
      <dsp:txXfrm>
        <a:off x="6853156" y="1955497"/>
        <a:ext cx="2915156" cy="437273"/>
      </dsp:txXfrm>
    </dsp:sp>
    <dsp:sp modelId="{1889063C-3CAE-4637-8BF4-3D6B3CE47E42}">
      <dsp:nvSpPr>
        <dsp:cNvPr id="0" name=""/>
        <dsp:cNvSpPr/>
      </dsp:nvSpPr>
      <dsp:spPr>
        <a:xfrm>
          <a:off x="6853156" y="2432287"/>
          <a:ext cx="2915156" cy="393771"/>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13613F-0C22-44A0-8574-70E4AC1C1E3D}" type="datetimeFigureOut">
              <a:rPr lang="en-US" smtClean="0"/>
              <a:t>5/2/2023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07B953-148D-4D1D-8080-EB750434F716}" type="slidenum">
              <a:rPr lang="en-US" smtClean="0"/>
              <a:t>‹#›</a:t>
            </a:fld>
            <a:endParaRPr lang="en-US"/>
          </a:p>
        </p:txBody>
      </p:sp>
    </p:spTree>
    <p:extLst>
      <p:ext uri="{BB962C8B-B14F-4D97-AF65-F5344CB8AC3E}">
        <p14:creationId xmlns:p14="http://schemas.microsoft.com/office/powerpoint/2010/main" val="2687336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tr-TR" sz="1800" dirty="0">
                <a:effectLst/>
                <a:latin typeface="Calibri" panose="020F0502020204030204" pitchFamily="34" charset="0"/>
              </a:rPr>
              <a:t>I want to start the presentation with a quote from True Detective series</a:t>
            </a:r>
          </a:p>
          <a:p>
            <a:pPr marL="0" marR="0">
              <a:spcBef>
                <a:spcPts val="0"/>
              </a:spcBef>
              <a:spcAft>
                <a:spcPts val="0"/>
              </a:spcAft>
            </a:pPr>
            <a:r>
              <a:rPr lang="tr-TR" sz="1800" dirty="0">
                <a:effectLst/>
                <a:latin typeface="Calibri" panose="020F0502020204030204" pitchFamily="34" charset="0"/>
              </a:rPr>
              <a:t>“</a:t>
            </a:r>
          </a:p>
          <a:p>
            <a:pPr marL="0" marR="0">
              <a:spcBef>
                <a:spcPts val="0"/>
              </a:spcBef>
              <a:spcAft>
                <a:spcPts val="0"/>
              </a:spcAft>
            </a:pPr>
            <a:r>
              <a:rPr lang="en-US" sz="1800" dirty="0">
                <a:solidFill>
                  <a:srgbClr val="000000"/>
                </a:solidFill>
                <a:effectLst/>
                <a:latin typeface="Garamond" panose="02020404030301010803" pitchFamily="18" charset="0"/>
              </a:rPr>
              <a:t>Time is a flat circle. Everything we have done or will do we will do over and over and over again—</a:t>
            </a:r>
            <a:r>
              <a:rPr lang="tr-TR" sz="1800" i="1" dirty="0">
                <a:solidFill>
                  <a:srgbClr val="000000"/>
                </a:solidFill>
                <a:effectLst/>
                <a:latin typeface="Garamond" panose="02020404030301010803" pitchFamily="18" charset="0"/>
              </a:rPr>
              <a:t>forever</a:t>
            </a:r>
            <a:r>
              <a:rPr lang="en-US" sz="1800" dirty="0">
                <a:solidFill>
                  <a:srgbClr val="000000"/>
                </a:solidFill>
                <a:effectLst/>
                <a:latin typeface="Garamond" panose="02020404030301010803" pitchFamily="18" charset="0"/>
              </a:rPr>
              <a:t>.</a:t>
            </a:r>
            <a:r>
              <a:rPr lang="tr-TR" sz="1800" dirty="0">
                <a:solidFill>
                  <a:srgbClr val="000000"/>
                </a:solidFill>
                <a:effectLst/>
                <a:latin typeface="Garamond" panose="02020404030301010803" pitchFamily="18" charset="0"/>
              </a:rPr>
              <a:t>  </a:t>
            </a:r>
            <a:endParaRPr lang="en-US" sz="1800" dirty="0">
              <a:solidFill>
                <a:srgbClr val="000000"/>
              </a:solidFill>
              <a:effectLst/>
              <a:latin typeface="Garamond" panose="02020404030301010803" pitchFamily="18" charset="0"/>
            </a:endParaRPr>
          </a:p>
          <a:p>
            <a:pPr marL="0" marR="0">
              <a:spcBef>
                <a:spcPts val="0"/>
              </a:spcBef>
              <a:spcAft>
                <a:spcPts val="0"/>
              </a:spcAft>
            </a:pPr>
            <a:r>
              <a:rPr lang="tr-TR" sz="1800" dirty="0">
                <a:solidFill>
                  <a:srgbClr val="000000"/>
                </a:solidFill>
                <a:effectLst/>
                <a:latin typeface="Garamond" panose="02020404030301010803" pitchFamily="18" charset="0"/>
              </a:rPr>
              <a:t> - Rust Cohle (True Detective)</a:t>
            </a:r>
          </a:p>
          <a:p>
            <a:pPr marL="0" marR="0">
              <a:spcBef>
                <a:spcPts val="0"/>
              </a:spcBef>
              <a:spcAft>
                <a:spcPts val="0"/>
              </a:spcAft>
            </a:pPr>
            <a:r>
              <a:rPr lang="tr-TR" sz="1800" dirty="0">
                <a:solidFill>
                  <a:srgbClr val="000000"/>
                </a:solidFill>
                <a:effectLst/>
                <a:latin typeface="Garamond" panose="02020404030301010803" pitchFamily="18" charset="0"/>
              </a:rPr>
              <a:t> </a:t>
            </a:r>
          </a:p>
          <a:p>
            <a:pPr marL="0" marR="0">
              <a:spcBef>
                <a:spcPts val="0"/>
              </a:spcBef>
              <a:spcAft>
                <a:spcPts val="0"/>
              </a:spcAft>
            </a:pPr>
            <a:r>
              <a:rPr lang="tr-TR" sz="1800" dirty="0">
                <a:solidFill>
                  <a:srgbClr val="000000"/>
                </a:solidFill>
                <a:effectLst/>
                <a:latin typeface="Garamond" panose="02020404030301010803" pitchFamily="18" charset="0"/>
              </a:rPr>
              <a:t>Although its a pessimistic philosophical saying when we think about our experiment it is true in a funny way</a:t>
            </a:r>
          </a:p>
          <a:p>
            <a:endParaRPr lang="en-US" dirty="0"/>
          </a:p>
        </p:txBody>
      </p:sp>
      <p:sp>
        <p:nvSpPr>
          <p:cNvPr id="4" name="Slide Number Placeholder 3"/>
          <p:cNvSpPr>
            <a:spLocks noGrp="1"/>
          </p:cNvSpPr>
          <p:nvPr>
            <p:ph type="sldNum" sz="quarter" idx="5"/>
          </p:nvPr>
        </p:nvSpPr>
        <p:spPr/>
        <p:txBody>
          <a:bodyPr/>
          <a:lstStyle/>
          <a:p>
            <a:fld id="{4807B953-148D-4D1D-8080-EB750434F716}" type="slidenum">
              <a:rPr lang="en-US" smtClean="0"/>
              <a:t>3</a:t>
            </a:fld>
            <a:endParaRPr lang="en-US"/>
          </a:p>
        </p:txBody>
      </p:sp>
    </p:spTree>
    <p:extLst>
      <p:ext uri="{BB962C8B-B14F-4D97-AF65-F5344CB8AC3E}">
        <p14:creationId xmlns:p14="http://schemas.microsoft.com/office/powerpoint/2010/main" val="3218477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tr-TR" sz="1100" dirty="0">
                <a:effectLst/>
                <a:latin typeface="Calibri" panose="020F0502020204030204" pitchFamily="34" charset="0"/>
              </a:rPr>
              <a:t>There are lots of philosophical theories about time, the anticipation of the future, and relativity, but as cognitive scientists, we question</a:t>
            </a:r>
          </a:p>
          <a:p>
            <a:pPr marL="0" marR="0">
              <a:spcBef>
                <a:spcPts val="0"/>
              </a:spcBef>
              <a:spcAft>
                <a:spcPts val="0"/>
              </a:spcAft>
            </a:pPr>
            <a:r>
              <a:rPr lang="tr-TR" sz="1100" dirty="0">
                <a:effectLst/>
                <a:latin typeface="Calibri" panose="020F0502020204030204" pitchFamily="34" charset="0"/>
              </a:rPr>
              <a:t>HOW DO WE STUDY TIME PERCEPTION? </a:t>
            </a:r>
          </a:p>
          <a:p>
            <a:pPr marL="0" marR="0">
              <a:spcBef>
                <a:spcPts val="0"/>
              </a:spcBef>
              <a:spcAft>
                <a:spcPts val="0"/>
              </a:spcAft>
            </a:pPr>
            <a:r>
              <a:rPr lang="tr-TR" sz="1100" dirty="0">
                <a:effectLst/>
                <a:latin typeface="Calibri" panose="020F0502020204030204" pitchFamily="34" charset="0"/>
              </a:rPr>
              <a:t>In time we have three main variables:</a:t>
            </a:r>
          </a:p>
          <a:p>
            <a:pPr rtl="0" fontAlgn="ctr">
              <a:spcBef>
                <a:spcPts val="0"/>
              </a:spcBef>
              <a:spcAft>
                <a:spcPts val="0"/>
              </a:spcAft>
              <a:buFont typeface="Arial" panose="020B0604020202020204" pitchFamily="34" charset="0"/>
              <a:buChar char="•"/>
            </a:pPr>
            <a:r>
              <a:rPr lang="tr-TR" sz="1100" dirty="0">
                <a:effectLst/>
                <a:latin typeface="Calibri" panose="020F0502020204030204" pitchFamily="34" charset="0"/>
              </a:rPr>
              <a:t> First one is Duration ( in which asks how long an event has occurred?)</a:t>
            </a:r>
          </a:p>
          <a:p>
            <a:pPr rtl="0" fontAlgn="ctr">
              <a:spcBef>
                <a:spcPts val="0"/>
              </a:spcBef>
              <a:spcAft>
                <a:spcPts val="0"/>
              </a:spcAft>
              <a:buFont typeface="Arial" panose="020B0604020202020204" pitchFamily="34" charset="0"/>
              <a:buChar char="•"/>
            </a:pPr>
            <a:r>
              <a:rPr lang="tr-TR" sz="1100" dirty="0">
                <a:effectLst/>
                <a:latin typeface="Calibri" panose="020F0502020204030204" pitchFamily="34" charset="0"/>
              </a:rPr>
              <a:t>Then the other is temporal order of events</a:t>
            </a:r>
          </a:p>
          <a:p>
            <a:pPr rtl="0" fontAlgn="ctr">
              <a:spcBef>
                <a:spcPts val="0"/>
              </a:spcBef>
              <a:spcAft>
                <a:spcPts val="0"/>
              </a:spcAft>
              <a:buFont typeface="Arial" panose="020B0604020202020204" pitchFamily="34" charset="0"/>
              <a:buChar char="•"/>
            </a:pPr>
            <a:r>
              <a:rPr lang="tr-TR" sz="1100" dirty="0">
                <a:effectLst/>
                <a:latin typeface="Calibri" panose="020F0502020204030204" pitchFamily="34" charset="0"/>
              </a:rPr>
              <a:t>And relatedly The moment when event occured</a:t>
            </a:r>
          </a:p>
          <a:p>
            <a:pPr rtl="0" fontAlgn="ctr">
              <a:spcBef>
                <a:spcPts val="0"/>
              </a:spcBef>
              <a:spcAft>
                <a:spcPts val="0"/>
              </a:spcAft>
              <a:buFont typeface="Arial" panose="020B0604020202020204" pitchFamily="34" charset="0"/>
              <a:buChar char="•"/>
            </a:pPr>
            <a:r>
              <a:rPr lang="tr-TR" sz="1100" dirty="0">
                <a:effectLst/>
                <a:latin typeface="Calibri" panose="020F0502020204030204" pitchFamily="34" charset="0"/>
              </a:rPr>
              <a:t>Both of these variables also have 2 main component:</a:t>
            </a:r>
          </a:p>
          <a:p>
            <a:pPr marL="742950" lvl="1" indent="-285750" rtl="0" fontAlgn="ctr">
              <a:spcBef>
                <a:spcPts val="0"/>
              </a:spcBef>
              <a:spcAft>
                <a:spcPts val="0"/>
              </a:spcAft>
              <a:buFont typeface="Courier New" panose="02070309020205020404" pitchFamily="49" charset="0"/>
              <a:buChar char="o"/>
            </a:pPr>
            <a:r>
              <a:rPr lang="tr-TR" sz="1100" dirty="0">
                <a:effectLst/>
                <a:latin typeface="Calibri" panose="020F0502020204030204" pitchFamily="34" charset="0"/>
              </a:rPr>
              <a:t>Retrospective timing (as considering the events started in past and ended in past or now)</a:t>
            </a:r>
          </a:p>
          <a:p>
            <a:pPr marL="742950" lvl="1" indent="-285750" rtl="0" fontAlgn="ctr">
              <a:spcBef>
                <a:spcPts val="0"/>
              </a:spcBef>
              <a:spcAft>
                <a:spcPts val="0"/>
              </a:spcAft>
              <a:buFont typeface="Courier New" panose="02070309020205020404" pitchFamily="49" charset="0"/>
              <a:buChar char="o"/>
            </a:pPr>
            <a:r>
              <a:rPr lang="tr-TR" sz="1100" dirty="0">
                <a:effectLst/>
                <a:latin typeface="Calibri" panose="020F0502020204030204" pitchFamily="34" charset="0"/>
              </a:rPr>
              <a:t>Prospective timing (as events started in the future)</a:t>
            </a:r>
          </a:p>
          <a:p>
            <a:pPr marL="742950" lvl="1" indent="-285750" rtl="0" fontAlgn="ctr">
              <a:spcBef>
                <a:spcPts val="0"/>
              </a:spcBef>
              <a:spcAft>
                <a:spcPts val="0"/>
              </a:spcAft>
              <a:buFont typeface="Courier New" panose="02070309020205020404" pitchFamily="49" charset="0"/>
              <a:buChar char="o"/>
            </a:pPr>
            <a:endParaRPr lang="tr-TR" sz="1100" dirty="0">
              <a:effectLst/>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4807B953-148D-4D1D-8080-EB750434F716}" type="slidenum">
              <a:rPr lang="en-US" smtClean="0"/>
              <a:t>5</a:t>
            </a:fld>
            <a:endParaRPr lang="en-US"/>
          </a:p>
        </p:txBody>
      </p:sp>
    </p:spTree>
    <p:extLst>
      <p:ext uri="{BB962C8B-B14F-4D97-AF65-F5344CB8AC3E}">
        <p14:creationId xmlns:p14="http://schemas.microsoft.com/office/powerpoint/2010/main" val="256594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However, </a:t>
            </a:r>
            <a:r>
              <a:rPr lang="en-US" dirty="0"/>
              <a:t>time perception is not a straightforward process but rather malleable to various factors and subjective in nature.</a:t>
            </a:r>
            <a:endParaRPr lang="tr-TR" dirty="0"/>
          </a:p>
          <a:p>
            <a:r>
              <a:rPr lang="tr-TR" dirty="0"/>
              <a:t>When studying time we also need to consider about,</a:t>
            </a:r>
          </a:p>
          <a:p>
            <a:pPr marL="171450" indent="-171450">
              <a:buFontTx/>
              <a:buChar char="-"/>
            </a:pPr>
            <a:r>
              <a:rPr lang="tr-TR" dirty="0"/>
              <a:t>Attention</a:t>
            </a:r>
          </a:p>
          <a:p>
            <a:pPr marL="171450" indent="-171450">
              <a:buFontTx/>
              <a:buChar char="-"/>
            </a:pPr>
            <a:r>
              <a:rPr lang="tr-TR" dirty="0"/>
              <a:t>Confidence</a:t>
            </a:r>
          </a:p>
          <a:p>
            <a:pPr marL="171450" indent="-171450">
              <a:buFontTx/>
              <a:buChar char="-"/>
            </a:pPr>
            <a:r>
              <a:rPr lang="tr-TR" dirty="0"/>
              <a:t>E</a:t>
            </a:r>
            <a:r>
              <a:rPr lang="en-US" dirty="0"/>
              <a:t>motion</a:t>
            </a:r>
            <a:endParaRPr lang="tr-TR" dirty="0"/>
          </a:p>
          <a:p>
            <a:pPr marL="171450" indent="-171450">
              <a:buFontTx/>
              <a:buChar char="-"/>
            </a:pPr>
            <a:r>
              <a:rPr lang="tr-TR" dirty="0"/>
              <a:t>And Expectation</a:t>
            </a:r>
            <a:endParaRPr lang="en-US" dirty="0"/>
          </a:p>
        </p:txBody>
      </p:sp>
      <p:sp>
        <p:nvSpPr>
          <p:cNvPr id="4" name="Slide Number Placeholder 3"/>
          <p:cNvSpPr>
            <a:spLocks noGrp="1"/>
          </p:cNvSpPr>
          <p:nvPr>
            <p:ph type="sldNum" sz="quarter" idx="5"/>
          </p:nvPr>
        </p:nvSpPr>
        <p:spPr/>
        <p:txBody>
          <a:bodyPr/>
          <a:lstStyle/>
          <a:p>
            <a:fld id="{4807B953-148D-4D1D-8080-EB750434F716}" type="slidenum">
              <a:rPr lang="en-US" smtClean="0"/>
              <a:t>6</a:t>
            </a:fld>
            <a:endParaRPr lang="en-US"/>
          </a:p>
        </p:txBody>
      </p:sp>
    </p:spTree>
    <p:extLst>
      <p:ext uri="{BB962C8B-B14F-4D97-AF65-F5344CB8AC3E}">
        <p14:creationId xmlns:p14="http://schemas.microsoft.com/office/powerpoint/2010/main" val="3263044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Previous studies on duration perception found that there is an interference effect of multiple events on time perception.</a:t>
            </a:r>
          </a:p>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Under dual-task conditions time</a:t>
            </a:r>
            <a:r>
              <a:rPr lang="en-US" dirty="0"/>
              <a:t> judgements become shorter, more variable, and/or more inaccurate</a:t>
            </a:r>
            <a:r>
              <a:rPr lang="tr-TR" dirty="0"/>
              <a:t>.</a:t>
            </a:r>
            <a:endParaRPr lang="en-US" dirty="0"/>
          </a:p>
          <a:p>
            <a:r>
              <a:rPr lang="en-US" dirty="0"/>
              <a:t>A study by Burr, Rocca and </a:t>
            </a:r>
            <a:r>
              <a:rPr lang="en-US" dirty="0" err="1"/>
              <a:t>Morrone</a:t>
            </a:r>
            <a:r>
              <a:rPr lang="en-US" dirty="0"/>
              <a:t> (2013) found that the presence of a distractor event can significantly alter the perceived duration of a test stimulus. In their experiment, participants were asked to judge the duration of a test interval that was presented between two distractor intervals. The researchers found that short distractors caused the test interval to appear shorter, while longer distractors had the opposite effect.</a:t>
            </a:r>
            <a:endParaRPr lang="tr-TR" dirty="0"/>
          </a:p>
          <a:p>
            <a:pPr>
              <a:buFont typeface="Arial" panose="020B0604020202020204" pitchFamily="34" charset="0"/>
              <a:buNone/>
            </a:pPr>
            <a:r>
              <a:rPr lang="tr-TR" dirty="0"/>
              <a:t>- I</a:t>
            </a:r>
            <a:r>
              <a:rPr lang="en-US" dirty="0"/>
              <a:t>t is sometimes defined as process of assimilation</a:t>
            </a:r>
          </a:p>
          <a:p>
            <a:pPr marL="171450" indent="-171450">
              <a:buFontTx/>
              <a:buChar char="-"/>
            </a:pPr>
            <a:r>
              <a:rPr lang="en-US" b="1" dirty="0"/>
              <a:t>Which tends to make two </a:t>
            </a:r>
            <a:r>
              <a:rPr lang="en-US" b="1" dirty="0" err="1"/>
              <a:t>inteval</a:t>
            </a:r>
            <a:r>
              <a:rPr lang="tr-TR" b="1" dirty="0"/>
              <a:t>s</a:t>
            </a:r>
            <a:r>
              <a:rPr lang="en-US" b="1" dirty="0"/>
              <a:t> (distractor and test)</a:t>
            </a:r>
            <a:r>
              <a:rPr lang="tr-TR" b="1" dirty="0"/>
              <a:t> perceived</a:t>
            </a:r>
            <a:r>
              <a:rPr lang="en-US" b="1" dirty="0"/>
              <a:t> similar</a:t>
            </a:r>
            <a:endParaRPr lang="tr-TR" b="1" dirty="0"/>
          </a:p>
          <a:p>
            <a:pPr marL="171450" indent="-171450">
              <a:buFontTx/>
              <a:buChar char="-"/>
            </a:pPr>
            <a:r>
              <a:rPr lang="en-US" b="1" dirty="0">
                <a:effectLst/>
              </a:rPr>
              <a:t>Effects are high in short interval,</a:t>
            </a:r>
            <a:r>
              <a:rPr lang="tr-TR" b="1" dirty="0">
                <a:effectLst/>
              </a:rPr>
              <a:t> under 500ms</a:t>
            </a:r>
          </a:p>
          <a:p>
            <a:pPr marL="171450" indent="-171450">
              <a:buFontTx/>
              <a:buChar char="-"/>
            </a:pPr>
            <a:endParaRPr lang="tr-TR" b="1" dirty="0"/>
          </a:p>
          <a:p>
            <a:endParaRPr lang="en-US" dirty="0"/>
          </a:p>
          <a:p>
            <a:endParaRPr lang="en-US" dirty="0"/>
          </a:p>
        </p:txBody>
      </p:sp>
      <p:sp>
        <p:nvSpPr>
          <p:cNvPr id="4" name="Slide Number Placeholder 3"/>
          <p:cNvSpPr>
            <a:spLocks noGrp="1"/>
          </p:cNvSpPr>
          <p:nvPr>
            <p:ph type="sldNum" sz="quarter" idx="5"/>
          </p:nvPr>
        </p:nvSpPr>
        <p:spPr/>
        <p:txBody>
          <a:bodyPr/>
          <a:lstStyle/>
          <a:p>
            <a:fld id="{4807B953-148D-4D1D-8080-EB750434F716}" type="slidenum">
              <a:rPr lang="en-US" smtClean="0"/>
              <a:t>8</a:t>
            </a:fld>
            <a:endParaRPr lang="en-US"/>
          </a:p>
        </p:txBody>
      </p:sp>
    </p:spTree>
    <p:extLst>
      <p:ext uri="{BB962C8B-B14F-4D97-AF65-F5344CB8AC3E}">
        <p14:creationId xmlns:p14="http://schemas.microsoft.com/office/powerpoint/2010/main" val="2191363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A simillar effect was observed on the perceived moment of events. The</a:t>
            </a:r>
            <a:r>
              <a:rPr lang="en-US" dirty="0"/>
              <a:t> study </a:t>
            </a:r>
            <a:r>
              <a:rPr lang="tr-TR" dirty="0"/>
              <a:t>of</a:t>
            </a:r>
            <a:r>
              <a:rPr lang="en-US" dirty="0"/>
              <a:t> Jovanovic and </a:t>
            </a:r>
            <a:r>
              <a:rPr lang="en-US" dirty="0" err="1"/>
              <a:t>Mamassian</a:t>
            </a:r>
            <a:r>
              <a:rPr lang="en-US" dirty="0"/>
              <a:t> aimed to expand </a:t>
            </a:r>
            <a:r>
              <a:rPr lang="tr-TR" dirty="0"/>
              <a:t>temporal </a:t>
            </a:r>
            <a:r>
              <a:rPr lang="en-US" dirty="0"/>
              <a:t>effects on duration perception by examining the impact on the moment at which an event is perceived</a:t>
            </a:r>
          </a:p>
        </p:txBody>
      </p:sp>
      <p:sp>
        <p:nvSpPr>
          <p:cNvPr id="4" name="Slide Number Placeholder 3"/>
          <p:cNvSpPr>
            <a:spLocks noGrp="1"/>
          </p:cNvSpPr>
          <p:nvPr>
            <p:ph type="sldNum" sz="quarter" idx="5"/>
          </p:nvPr>
        </p:nvSpPr>
        <p:spPr/>
        <p:txBody>
          <a:bodyPr/>
          <a:lstStyle/>
          <a:p>
            <a:fld id="{4807B953-148D-4D1D-8080-EB750434F716}" type="slidenum">
              <a:rPr lang="en-US" smtClean="0"/>
              <a:t>9</a:t>
            </a:fld>
            <a:endParaRPr lang="en-US"/>
          </a:p>
        </p:txBody>
      </p:sp>
    </p:spTree>
    <p:extLst>
      <p:ext uri="{BB962C8B-B14F-4D97-AF65-F5344CB8AC3E}">
        <p14:creationId xmlns:p14="http://schemas.microsoft.com/office/powerpoint/2010/main" val="24467715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revealed that the perceived time of an event is consistently influenced by other events that occur in close temporal proximity. </a:t>
            </a:r>
          </a:p>
        </p:txBody>
      </p:sp>
      <p:sp>
        <p:nvSpPr>
          <p:cNvPr id="4" name="Slide Number Placeholder 3"/>
          <p:cNvSpPr>
            <a:spLocks noGrp="1"/>
          </p:cNvSpPr>
          <p:nvPr>
            <p:ph type="sldNum" sz="quarter" idx="5"/>
          </p:nvPr>
        </p:nvSpPr>
        <p:spPr/>
        <p:txBody>
          <a:bodyPr/>
          <a:lstStyle/>
          <a:p>
            <a:fld id="{4807B953-148D-4D1D-8080-EB750434F716}" type="slidenum">
              <a:rPr lang="en-US" smtClean="0"/>
              <a:t>10</a:t>
            </a:fld>
            <a:endParaRPr lang="en-US"/>
          </a:p>
        </p:txBody>
      </p:sp>
    </p:spTree>
    <p:extLst>
      <p:ext uri="{BB962C8B-B14F-4D97-AF65-F5344CB8AC3E}">
        <p14:creationId xmlns:p14="http://schemas.microsoft.com/office/powerpoint/2010/main" val="3266826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Drawing upon the</a:t>
            </a:r>
            <a:r>
              <a:rPr lang="tr-TR" dirty="0"/>
              <a:t>se findings our study adds expectation factor to Jovanovic’s study and</a:t>
            </a:r>
            <a:r>
              <a:rPr lang="en-US" dirty="0"/>
              <a:t> aims to investigate how</a:t>
            </a:r>
            <a:r>
              <a:rPr lang="tr-TR" dirty="0"/>
              <a:t> do we perceive the moment of an </a:t>
            </a:r>
            <a:r>
              <a:rPr lang="en-US" dirty="0"/>
              <a:t>expected and unexpected </a:t>
            </a:r>
            <a:r>
              <a:rPr lang="tr-TR" dirty="0"/>
              <a:t>event.</a:t>
            </a:r>
          </a:p>
          <a:p>
            <a:endParaRPr lang="en-US" dirty="0"/>
          </a:p>
        </p:txBody>
      </p:sp>
      <p:sp>
        <p:nvSpPr>
          <p:cNvPr id="4" name="Slide Number Placeholder 3"/>
          <p:cNvSpPr>
            <a:spLocks noGrp="1"/>
          </p:cNvSpPr>
          <p:nvPr>
            <p:ph type="sldNum" sz="quarter" idx="5"/>
          </p:nvPr>
        </p:nvSpPr>
        <p:spPr/>
        <p:txBody>
          <a:bodyPr/>
          <a:lstStyle/>
          <a:p>
            <a:fld id="{4807B953-148D-4D1D-8080-EB750434F716}" type="slidenum">
              <a:rPr lang="en-US" smtClean="0"/>
              <a:t>11</a:t>
            </a:fld>
            <a:endParaRPr lang="en-US"/>
          </a:p>
        </p:txBody>
      </p:sp>
    </p:spTree>
    <p:extLst>
      <p:ext uri="{BB962C8B-B14F-4D97-AF65-F5344CB8AC3E}">
        <p14:creationId xmlns:p14="http://schemas.microsoft.com/office/powerpoint/2010/main" val="12819753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In our method, we replicated the stimuli and procedure of the Ljubica’s experiment.</a:t>
            </a:r>
          </a:p>
          <a:p>
            <a:r>
              <a:rPr lang="tr-TR" b="0" dirty="0">
                <a:solidFill>
                  <a:srgbClr val="1DBB9B"/>
                </a:solidFill>
                <a:effectLst/>
                <a:latin typeface="Consolas" panose="020B0609020204030204" pitchFamily="49" charset="0"/>
              </a:rPr>
              <a:t>    </a:t>
            </a:r>
            <a:r>
              <a:rPr lang="en-US" b="0" dirty="0">
                <a:solidFill>
                  <a:srgbClr val="1DBB9B"/>
                </a:solidFill>
                <a:effectLst/>
                <a:latin typeface="Consolas" panose="020B0609020204030204" pitchFamily="49" charset="0"/>
              </a:rPr>
              <a:t>In each trial, </a:t>
            </a:r>
            <a:r>
              <a:rPr lang="tr-TR" b="0" dirty="0">
                <a:solidFill>
                  <a:srgbClr val="1DBB9B"/>
                </a:solidFill>
                <a:effectLst/>
                <a:latin typeface="Consolas" panose="020B0609020204030204" pitchFamily="49" charset="0"/>
              </a:rPr>
              <a:t>participants</a:t>
            </a:r>
            <a:r>
              <a:rPr lang="en-US" b="0" dirty="0">
                <a:solidFill>
                  <a:srgbClr val="1DBB9B"/>
                </a:solidFill>
                <a:effectLst/>
                <a:latin typeface="Consolas" panose="020B0609020204030204" pitchFamily="49" charset="0"/>
              </a:rPr>
              <a:t> see a clock's circle and two different </a:t>
            </a:r>
            <a:r>
              <a:rPr lang="tr-TR" b="0" dirty="0">
                <a:solidFill>
                  <a:srgbClr val="1DBB9B"/>
                </a:solidFill>
                <a:effectLst/>
                <a:latin typeface="Consolas" panose="020B0609020204030204" pitchFamily="49" charset="0"/>
              </a:rPr>
              <a:t>coloured</a:t>
            </a:r>
            <a:r>
              <a:rPr lang="en-US" b="0" dirty="0">
                <a:solidFill>
                  <a:srgbClr val="1DBB9B"/>
                </a:solidFill>
                <a:effectLst/>
                <a:latin typeface="Consolas" panose="020B0609020204030204" pitchFamily="49" charset="0"/>
              </a:rPr>
              <a:t> disk. The disk will be presented in one of two colors: red or green. </a:t>
            </a:r>
            <a:endParaRPr lang="en-US" b="0" dirty="0">
              <a:solidFill>
                <a:srgbClr val="FFFFFF"/>
              </a:solidFill>
              <a:effectLst/>
              <a:latin typeface="Consolas" panose="020B0609020204030204" pitchFamily="49" charset="0"/>
            </a:endParaRPr>
          </a:p>
          <a:p>
            <a:r>
              <a:rPr lang="en-US" b="0" dirty="0">
                <a:solidFill>
                  <a:srgbClr val="1DBB9B"/>
                </a:solidFill>
                <a:effectLst/>
                <a:latin typeface="Consolas" panose="020B0609020204030204" pitchFamily="49" charset="0"/>
              </a:rPr>
              <a:t>    After end of the trial, </a:t>
            </a:r>
            <a:r>
              <a:rPr lang="tr-TR" b="0" dirty="0">
                <a:solidFill>
                  <a:srgbClr val="1DBB9B"/>
                </a:solidFill>
                <a:effectLst/>
                <a:latin typeface="Consolas" panose="020B0609020204030204" pitchFamily="49" charset="0"/>
              </a:rPr>
              <a:t>participants</a:t>
            </a:r>
            <a:r>
              <a:rPr lang="en-US" b="0" dirty="0">
                <a:solidFill>
                  <a:srgbClr val="1DBB9B"/>
                </a:solidFill>
                <a:effectLst/>
                <a:latin typeface="Consolas" panose="020B0609020204030204" pitchFamily="49" charset="0"/>
              </a:rPr>
              <a:t> asked to report the time of one of the disks by clicking </a:t>
            </a:r>
            <a:r>
              <a:rPr lang="tr-TR" b="0" dirty="0">
                <a:solidFill>
                  <a:srgbClr val="1DBB9B"/>
                </a:solidFill>
                <a:effectLst/>
                <a:latin typeface="Consolas" panose="020B0609020204030204" pitchFamily="49" charset="0"/>
              </a:rPr>
              <a:t>the </a:t>
            </a:r>
            <a:r>
              <a:rPr lang="en-US" b="0" dirty="0">
                <a:solidFill>
                  <a:srgbClr val="1DBB9B"/>
                </a:solidFill>
                <a:effectLst/>
                <a:latin typeface="Consolas" panose="020B0609020204030204" pitchFamily="49" charset="0"/>
              </a:rPr>
              <a:t>appropriate position on the clock's circle.</a:t>
            </a:r>
            <a:endParaRPr lang="en-US" b="0" dirty="0">
              <a:solidFill>
                <a:srgbClr val="FFFFFF"/>
              </a:solidFill>
              <a:effectLst/>
              <a:latin typeface="Consolas" panose="020B0609020204030204" pitchFamily="49" charset="0"/>
            </a:endParaRPr>
          </a:p>
          <a:p>
            <a:r>
              <a:rPr lang="en-US" b="0" dirty="0">
                <a:solidFill>
                  <a:srgbClr val="1DBB9B"/>
                </a:solidFill>
                <a:effectLst/>
                <a:latin typeface="Consolas" panose="020B0609020204030204" pitchFamily="49" charset="0"/>
              </a:rPr>
              <a:t>    The color of the disk you </a:t>
            </a:r>
            <a:r>
              <a:rPr lang="tr-TR" b="0" dirty="0">
                <a:solidFill>
                  <a:srgbClr val="1DBB9B"/>
                </a:solidFill>
                <a:effectLst/>
                <a:latin typeface="Consolas" panose="020B0609020204030204" pitchFamily="49" charset="0"/>
              </a:rPr>
              <a:t>participans </a:t>
            </a:r>
            <a:r>
              <a:rPr lang="en-US" b="0" dirty="0">
                <a:solidFill>
                  <a:srgbClr val="1DBB9B"/>
                </a:solidFill>
                <a:effectLst/>
                <a:latin typeface="Consolas" panose="020B0609020204030204" pitchFamily="49" charset="0"/>
              </a:rPr>
              <a:t>asked to report </a:t>
            </a:r>
            <a:r>
              <a:rPr lang="tr-TR" b="0" dirty="0">
                <a:solidFill>
                  <a:srgbClr val="1DBB9B"/>
                </a:solidFill>
                <a:effectLst/>
                <a:latin typeface="Consolas" panose="020B0609020204030204" pitchFamily="49" charset="0"/>
              </a:rPr>
              <a:t>is</a:t>
            </a:r>
            <a:r>
              <a:rPr lang="en-US" b="0" dirty="0">
                <a:solidFill>
                  <a:srgbClr val="1DBB9B"/>
                </a:solidFill>
                <a:effectLst/>
                <a:latin typeface="Consolas" panose="020B0609020204030204" pitchFamily="49" charset="0"/>
              </a:rPr>
              <a:t> indicated </a:t>
            </a:r>
            <a:r>
              <a:rPr lang="tr-TR" b="0" dirty="0">
                <a:solidFill>
                  <a:srgbClr val="1DBB9B"/>
                </a:solidFill>
                <a:effectLst/>
                <a:latin typeface="Consolas" panose="020B0609020204030204" pitchFamily="49" charset="0"/>
              </a:rPr>
              <a:t>at the end of trial time revolution, </a:t>
            </a:r>
            <a:r>
              <a:rPr lang="en-US" b="0" dirty="0">
                <a:solidFill>
                  <a:srgbClr val="1DBB9B"/>
                </a:solidFill>
                <a:effectLst/>
                <a:latin typeface="Consolas" panose="020B0609020204030204" pitchFamily="49" charset="0"/>
              </a:rPr>
              <a:t>by cue which is exactly same as the target disk's color and size.</a:t>
            </a:r>
            <a:endParaRPr lang="en-US" b="0" dirty="0">
              <a:solidFill>
                <a:srgbClr val="FFFFFF"/>
              </a:solidFill>
              <a:effectLst/>
              <a:latin typeface="Consolas" panose="020B0609020204030204" pitchFamily="49" charset="0"/>
            </a:endParaRPr>
          </a:p>
          <a:p>
            <a:r>
              <a:rPr lang="en-US" b="0" dirty="0">
                <a:solidFill>
                  <a:srgbClr val="1DBB9B"/>
                </a:solidFill>
                <a:effectLst/>
                <a:latin typeface="Consolas" panose="020B0609020204030204" pitchFamily="49" charset="0"/>
              </a:rPr>
              <a:t>    In the baseline condition, the probability of reporting the time of the disk is equal for each color.</a:t>
            </a:r>
            <a:endParaRPr lang="en-US" b="0" dirty="0">
              <a:solidFill>
                <a:srgbClr val="FFFFFF"/>
              </a:solidFill>
              <a:effectLst/>
              <a:latin typeface="Consolas" panose="020B0609020204030204" pitchFamily="49" charset="0"/>
            </a:endParaRPr>
          </a:p>
          <a:p>
            <a:r>
              <a:rPr lang="en-US" b="0" dirty="0">
                <a:solidFill>
                  <a:srgbClr val="1DBB9B"/>
                </a:solidFill>
                <a:effectLst/>
                <a:latin typeface="Consolas" panose="020B0609020204030204" pitchFamily="49" charset="0"/>
              </a:rPr>
              <a:t>    In the expectation condition, the probability of reporting the time of the disk is higher for one of the colors.</a:t>
            </a:r>
            <a:endParaRPr lang="en-US" b="0" dirty="0">
              <a:solidFill>
                <a:srgbClr val="FFFFFF"/>
              </a:solidFill>
              <a:effectLst/>
              <a:latin typeface="Consolas" panose="020B0609020204030204" pitchFamily="49" charset="0"/>
            </a:endParaRPr>
          </a:p>
          <a:p>
            <a:endParaRPr lang="tr-TR" dirty="0"/>
          </a:p>
          <a:p>
            <a:endParaRPr lang="en-US" dirty="0"/>
          </a:p>
        </p:txBody>
      </p:sp>
      <p:sp>
        <p:nvSpPr>
          <p:cNvPr id="4" name="Slide Number Placeholder 3"/>
          <p:cNvSpPr>
            <a:spLocks noGrp="1"/>
          </p:cNvSpPr>
          <p:nvPr>
            <p:ph type="sldNum" sz="quarter" idx="5"/>
          </p:nvPr>
        </p:nvSpPr>
        <p:spPr/>
        <p:txBody>
          <a:bodyPr/>
          <a:lstStyle/>
          <a:p>
            <a:fld id="{4807B953-148D-4D1D-8080-EB750434F716}" type="slidenum">
              <a:rPr lang="en-US" smtClean="0"/>
              <a:t>12</a:t>
            </a:fld>
            <a:endParaRPr lang="en-US"/>
          </a:p>
        </p:txBody>
      </p:sp>
    </p:spTree>
    <p:extLst>
      <p:ext uri="{BB962C8B-B14F-4D97-AF65-F5344CB8AC3E}">
        <p14:creationId xmlns:p14="http://schemas.microsoft.com/office/powerpoint/2010/main" val="1948825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Before the trials particpants familiarized with trial time revolution</a:t>
            </a:r>
          </a:p>
        </p:txBody>
      </p:sp>
      <p:sp>
        <p:nvSpPr>
          <p:cNvPr id="4" name="Slide Number Placeholder 3"/>
          <p:cNvSpPr>
            <a:spLocks noGrp="1"/>
          </p:cNvSpPr>
          <p:nvPr>
            <p:ph type="sldNum" sz="quarter" idx="5"/>
          </p:nvPr>
        </p:nvSpPr>
        <p:spPr/>
        <p:txBody>
          <a:bodyPr/>
          <a:lstStyle/>
          <a:p>
            <a:fld id="{4807B953-148D-4D1D-8080-EB750434F716}" type="slidenum">
              <a:rPr lang="en-US" smtClean="0"/>
              <a:t>13</a:t>
            </a:fld>
            <a:endParaRPr lang="en-US"/>
          </a:p>
        </p:txBody>
      </p:sp>
    </p:spTree>
    <p:extLst>
      <p:ext uri="{BB962C8B-B14F-4D97-AF65-F5344CB8AC3E}">
        <p14:creationId xmlns:p14="http://schemas.microsoft.com/office/powerpoint/2010/main" val="41879179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Based on Ljubica’s study, we created a model for our predictions.</a:t>
            </a:r>
          </a:p>
          <a:p>
            <a:pPr marL="342900" indent="-342900">
              <a:buFont typeface="+mj-lt"/>
              <a:buAutoNum type="arabicPeriod"/>
            </a:pPr>
            <a:r>
              <a:rPr lang="en-US" dirty="0"/>
              <a:t>No expectation Block</a:t>
            </a:r>
            <a:endParaRPr lang="tr-TR" dirty="0"/>
          </a:p>
          <a:p>
            <a:pPr marL="571500" lvl="1" indent="-342900">
              <a:buFont typeface="+mj-lt"/>
              <a:buAutoNum type="arabicPeriod"/>
            </a:pPr>
            <a:r>
              <a:rPr lang="en-US" dirty="0">
                <a:effectLst/>
              </a:rPr>
              <a:t>If the temporal error was totally linear</a:t>
            </a:r>
            <a:r>
              <a:rPr lang="tr-TR" dirty="0">
                <a:effectLst/>
              </a:rPr>
              <a:t>ly effected by the distractors time</a:t>
            </a:r>
            <a:r>
              <a:rPr lang="en-US" dirty="0">
                <a:effectLst/>
              </a:rPr>
              <a:t>:</a:t>
            </a:r>
            <a:endParaRPr lang="tr-TR" dirty="0">
              <a:effectLst/>
            </a:endParaRPr>
          </a:p>
          <a:p>
            <a:pPr marL="571500" lvl="1" indent="-342900">
              <a:buFont typeface="+mj-lt"/>
              <a:buAutoNum type="arabicPeriod"/>
            </a:pPr>
            <a:endParaRPr lang="tr-TR" dirty="0"/>
          </a:p>
          <a:p>
            <a:pPr marL="571500" lvl="1" indent="-342900">
              <a:buFont typeface="+mj-lt"/>
              <a:buAutoNum type="arabicPeriod"/>
            </a:pPr>
            <a:endParaRPr lang="tr-TR" dirty="0"/>
          </a:p>
          <a:p>
            <a:pPr marL="571500" lvl="1" indent="-342900">
              <a:buFont typeface="+mj-lt"/>
              <a:buAutoNum type="arabicPeriod"/>
            </a:pPr>
            <a:endParaRPr lang="tr-TR" dirty="0"/>
          </a:p>
          <a:p>
            <a:pPr marL="411480" lvl="2" indent="0">
              <a:buFont typeface="+mj-lt"/>
              <a:buNone/>
            </a:pPr>
            <a:endParaRPr lang="en-US" dirty="0"/>
          </a:p>
          <a:p>
            <a:endParaRPr lang="tr-TR" dirty="0"/>
          </a:p>
          <a:p>
            <a:endParaRPr lang="tr-TR" dirty="0"/>
          </a:p>
          <a:p>
            <a:endParaRPr lang="en-US" dirty="0"/>
          </a:p>
        </p:txBody>
      </p:sp>
      <p:sp>
        <p:nvSpPr>
          <p:cNvPr id="4" name="Slide Number Placeholder 3"/>
          <p:cNvSpPr>
            <a:spLocks noGrp="1"/>
          </p:cNvSpPr>
          <p:nvPr>
            <p:ph type="sldNum" sz="quarter" idx="5"/>
          </p:nvPr>
        </p:nvSpPr>
        <p:spPr/>
        <p:txBody>
          <a:bodyPr/>
          <a:lstStyle/>
          <a:p>
            <a:fld id="{4807B953-148D-4D1D-8080-EB750434F716}" type="slidenum">
              <a:rPr lang="en-US" smtClean="0"/>
              <a:t>16</a:t>
            </a:fld>
            <a:endParaRPr lang="en-US"/>
          </a:p>
        </p:txBody>
      </p:sp>
    </p:spTree>
    <p:extLst>
      <p:ext uri="{BB962C8B-B14F-4D97-AF65-F5344CB8AC3E}">
        <p14:creationId xmlns:p14="http://schemas.microsoft.com/office/powerpoint/2010/main" val="539555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Based on Ljubica’s study, we created a model for our predictions.</a:t>
            </a:r>
          </a:p>
          <a:p>
            <a:pPr marL="342900" indent="-342900">
              <a:buFont typeface="+mj-lt"/>
              <a:buAutoNum type="arabicPeriod"/>
            </a:pPr>
            <a:r>
              <a:rPr lang="en-US" dirty="0"/>
              <a:t>No expectation Block</a:t>
            </a:r>
            <a:endParaRPr lang="tr-TR" dirty="0"/>
          </a:p>
          <a:p>
            <a:pPr marL="571500" lvl="1" indent="-342900">
              <a:buFont typeface="+mj-lt"/>
              <a:buAutoNum type="arabicPeriod"/>
            </a:pPr>
            <a:r>
              <a:rPr lang="en-US" dirty="0">
                <a:effectLst/>
              </a:rPr>
              <a:t>If the temporal error was totally linear</a:t>
            </a:r>
            <a:r>
              <a:rPr lang="tr-TR" dirty="0">
                <a:effectLst/>
              </a:rPr>
              <a:t>ly effected by the distractors time</a:t>
            </a:r>
            <a:r>
              <a:rPr lang="en-US" dirty="0">
                <a:effectLst/>
              </a:rPr>
              <a:t>:</a:t>
            </a:r>
            <a:endParaRPr lang="tr-TR" dirty="0">
              <a:effectLst/>
            </a:endParaRPr>
          </a:p>
          <a:p>
            <a:pPr marL="571500" lvl="1" indent="-342900">
              <a:buFont typeface="+mj-lt"/>
              <a:buAutoNum type="arabicPeriod"/>
            </a:pPr>
            <a:endParaRPr lang="tr-TR" dirty="0"/>
          </a:p>
          <a:p>
            <a:pPr marL="571500" lvl="1" indent="-342900">
              <a:buFont typeface="+mj-lt"/>
              <a:buAutoNum type="arabicPeriod"/>
            </a:pPr>
            <a:endParaRPr lang="tr-TR" dirty="0"/>
          </a:p>
          <a:p>
            <a:pPr marL="571500" lvl="1" indent="-342900">
              <a:buFont typeface="+mj-lt"/>
              <a:buAutoNum type="arabicPeriod"/>
            </a:pPr>
            <a:endParaRPr lang="tr-TR" dirty="0"/>
          </a:p>
          <a:p>
            <a:pPr marL="571500" lvl="1" indent="-342900">
              <a:buFont typeface="+mj-lt"/>
              <a:buAutoNum type="arabicPeriod"/>
            </a:pPr>
            <a:endParaRPr lang="tr-TR" dirty="0"/>
          </a:p>
          <a:p>
            <a:pPr marL="571500" lvl="1" indent="-342900">
              <a:buFont typeface="+mj-lt"/>
              <a:buAutoNum type="arabicPeriod"/>
            </a:pPr>
            <a:r>
              <a:rPr lang="tr-TR" dirty="0"/>
              <a:t>But it is not! The effect is something similar to sinusoidal. Attraction towards distractor effect was peeking after or before certain amount of time but then if timing of distractor was too late or too early</a:t>
            </a:r>
            <a:br>
              <a:rPr lang="tr-TR" dirty="0"/>
            </a:br>
            <a:r>
              <a:rPr lang="tr-TR" dirty="0"/>
              <a:t>effect was likely to disappear. So its more like include a exponential function which corresponds best to the derivative of gaussian!</a:t>
            </a:r>
          </a:p>
          <a:p>
            <a:pPr marL="228600" lvl="1" indent="0">
              <a:buFont typeface="+mj-lt"/>
              <a:buNone/>
            </a:pPr>
            <a:endParaRPr lang="tr-TR" dirty="0"/>
          </a:p>
          <a:p>
            <a:pPr marL="1028700" lvl="2" indent="-342900">
              <a:buFont typeface="+mj-lt"/>
              <a:buAutoNum type="arabicPeriod"/>
            </a:pPr>
            <a:endParaRPr lang="tr-TR" dirty="0"/>
          </a:p>
          <a:p>
            <a:pPr marL="754380" lvl="2" indent="-342900">
              <a:buFont typeface="+mj-lt"/>
              <a:buAutoNum type="arabicPeriod"/>
            </a:pPr>
            <a:endParaRPr lang="en-US" dirty="0"/>
          </a:p>
          <a:p>
            <a:endParaRPr lang="tr-TR" dirty="0"/>
          </a:p>
          <a:p>
            <a:endParaRPr lang="tr-TR" dirty="0"/>
          </a:p>
          <a:p>
            <a:endParaRPr lang="en-US" dirty="0"/>
          </a:p>
        </p:txBody>
      </p:sp>
      <p:sp>
        <p:nvSpPr>
          <p:cNvPr id="4" name="Slide Number Placeholder 3"/>
          <p:cNvSpPr>
            <a:spLocks noGrp="1"/>
          </p:cNvSpPr>
          <p:nvPr>
            <p:ph type="sldNum" sz="quarter" idx="5"/>
          </p:nvPr>
        </p:nvSpPr>
        <p:spPr/>
        <p:txBody>
          <a:bodyPr/>
          <a:lstStyle/>
          <a:p>
            <a:fld id="{4807B953-148D-4D1D-8080-EB750434F716}" type="slidenum">
              <a:rPr lang="en-US" smtClean="0"/>
              <a:t>17</a:t>
            </a:fld>
            <a:endParaRPr lang="en-US"/>
          </a:p>
        </p:txBody>
      </p:sp>
    </p:spTree>
    <p:extLst>
      <p:ext uri="{BB962C8B-B14F-4D97-AF65-F5344CB8AC3E}">
        <p14:creationId xmlns:p14="http://schemas.microsoft.com/office/powerpoint/2010/main" val="2445903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On the other hand, at first we thought in Expected condition effect would be simillar to a precued condition, in which participants know the color of target before the trial.</a:t>
            </a:r>
          </a:p>
          <a:p>
            <a:r>
              <a:rPr lang="tr-TR" dirty="0"/>
              <a:t>So, as participants would prepare attentional resources for expected stimuli we predicted that participants would anticipate the onset time of the target and also inference of distractor would be less affective.</a:t>
            </a:r>
          </a:p>
          <a:p>
            <a:endParaRPr lang="tr-TR" dirty="0"/>
          </a:p>
        </p:txBody>
      </p:sp>
      <p:sp>
        <p:nvSpPr>
          <p:cNvPr id="4" name="Slide Number Placeholder 3"/>
          <p:cNvSpPr>
            <a:spLocks noGrp="1"/>
          </p:cNvSpPr>
          <p:nvPr>
            <p:ph type="sldNum" sz="quarter" idx="5"/>
          </p:nvPr>
        </p:nvSpPr>
        <p:spPr/>
        <p:txBody>
          <a:bodyPr/>
          <a:lstStyle/>
          <a:p>
            <a:fld id="{4807B953-148D-4D1D-8080-EB750434F716}" type="slidenum">
              <a:rPr lang="en-US" smtClean="0"/>
              <a:t>18</a:t>
            </a:fld>
            <a:endParaRPr lang="en-US"/>
          </a:p>
        </p:txBody>
      </p:sp>
    </p:spTree>
    <p:extLst>
      <p:ext uri="{BB962C8B-B14F-4D97-AF65-F5344CB8AC3E}">
        <p14:creationId xmlns:p14="http://schemas.microsoft.com/office/powerpoint/2010/main" val="113063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For the unexpected trials</a:t>
            </a:r>
          </a:p>
          <a:p>
            <a:endParaRPr lang="tr-TR" dirty="0"/>
          </a:p>
        </p:txBody>
      </p:sp>
      <p:sp>
        <p:nvSpPr>
          <p:cNvPr id="4" name="Slide Number Placeholder 3"/>
          <p:cNvSpPr>
            <a:spLocks noGrp="1"/>
          </p:cNvSpPr>
          <p:nvPr>
            <p:ph type="sldNum" sz="quarter" idx="5"/>
          </p:nvPr>
        </p:nvSpPr>
        <p:spPr/>
        <p:txBody>
          <a:bodyPr/>
          <a:lstStyle/>
          <a:p>
            <a:fld id="{4807B953-148D-4D1D-8080-EB750434F716}" type="slidenum">
              <a:rPr lang="en-US" smtClean="0"/>
              <a:t>19</a:t>
            </a:fld>
            <a:endParaRPr lang="en-US"/>
          </a:p>
        </p:txBody>
      </p:sp>
    </p:spTree>
    <p:extLst>
      <p:ext uri="{BB962C8B-B14F-4D97-AF65-F5344CB8AC3E}">
        <p14:creationId xmlns:p14="http://schemas.microsoft.com/office/powerpoint/2010/main" val="4178368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F1C56-8A72-4858-851C-F15B634C74F2}"/>
              </a:ext>
            </a:extLst>
          </p:cNvPr>
          <p:cNvSpPr>
            <a:spLocks noGrp="1"/>
          </p:cNvSpPr>
          <p:nvPr>
            <p:ph type="ctrTitle"/>
          </p:nvPr>
        </p:nvSpPr>
        <p:spPr>
          <a:xfrm>
            <a:off x="1485900" y="1122362"/>
            <a:ext cx="8609322" cy="3744209"/>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1834EB-45A5-426C-824A-8F07CA8F6DBE}"/>
              </a:ext>
            </a:extLst>
          </p:cNvPr>
          <p:cNvSpPr>
            <a:spLocks noGrp="1"/>
          </p:cNvSpPr>
          <p:nvPr>
            <p:ph type="subTitle" idx="1"/>
          </p:nvPr>
        </p:nvSpPr>
        <p:spPr>
          <a:xfrm>
            <a:off x="1485900" y="5230134"/>
            <a:ext cx="4610100" cy="942065"/>
          </a:xfrm>
        </p:spPr>
        <p:txBody>
          <a:bodyPr>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93D55F2-5374-4778-B1EE-98996792D07B}"/>
              </a:ext>
            </a:extLst>
          </p:cNvPr>
          <p:cNvSpPr>
            <a:spLocks noGrp="1"/>
          </p:cNvSpPr>
          <p:nvPr>
            <p:ph type="dt" sz="half" idx="10"/>
          </p:nvPr>
        </p:nvSpPr>
        <p:spPr/>
        <p:txBody>
          <a:bodyPr/>
          <a:lstStyle/>
          <a:p>
            <a:fld id="{8C1E1FAD-7351-4908-963A-08EA8E4AB7A0}" type="datetimeFigureOut">
              <a:rPr lang="en-US" smtClean="0"/>
              <a:t>5/2/2023</a:t>
            </a:fld>
            <a:endParaRPr lang="en-US"/>
          </a:p>
        </p:txBody>
      </p:sp>
      <p:sp>
        <p:nvSpPr>
          <p:cNvPr id="5" name="Footer Placeholder 4">
            <a:extLst>
              <a:ext uri="{FF2B5EF4-FFF2-40B4-BE49-F238E27FC236}">
                <a16:creationId xmlns:a16="http://schemas.microsoft.com/office/drawing/2014/main" id="{944044F8-E727-4D63-B6D6-26482F83D3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41F76-D956-4205-AD99-E91FD5FCC027}"/>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2863917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11A1B-E09A-4F93-BC68-B160114AFCEA}"/>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CC8C4A9-27ED-4E86-A256-5009E31342B6}"/>
              </a:ext>
            </a:extLst>
          </p:cNvPr>
          <p:cNvSpPr>
            <a:spLocks noGrp="1"/>
          </p:cNvSpPr>
          <p:nvPr>
            <p:ph idx="1"/>
          </p:nvPr>
        </p:nvSpPr>
        <p:spPr/>
        <p:txBody>
          <a:bodyPr/>
          <a:lstStyle>
            <a:lvl1pPr>
              <a:lnSpc>
                <a:spcPct val="120000"/>
              </a:lnSpc>
              <a:defRPr/>
            </a:lvl1pPr>
            <a:lvl2pPr>
              <a:lnSpc>
                <a:spcPct val="120000"/>
              </a:lnSpc>
              <a:defRPr/>
            </a:lvl2pPr>
            <a:lvl3pPr>
              <a:lnSpc>
                <a:spcPct val="120000"/>
              </a:lnSpc>
              <a:defRPr sz="1400"/>
            </a:lvl3pPr>
            <a:lvl4pPr>
              <a:lnSpc>
                <a:spcPct val="120000"/>
              </a:lnSpc>
              <a:defRPr sz="1200"/>
            </a:lvl4pPr>
            <a:lvl5pPr>
              <a:lnSpc>
                <a:spcPct val="120000"/>
              </a:lnSpc>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85CF91C-8771-4949-A397-928A5743EBC7}"/>
              </a:ext>
            </a:extLst>
          </p:cNvPr>
          <p:cNvSpPr>
            <a:spLocks noGrp="1"/>
          </p:cNvSpPr>
          <p:nvPr>
            <p:ph type="dt" sz="half" idx="10"/>
          </p:nvPr>
        </p:nvSpPr>
        <p:spPr/>
        <p:txBody>
          <a:bodyPr/>
          <a:lstStyle/>
          <a:p>
            <a:fld id="{8C1E1FAD-7351-4908-963A-08EA8E4AB7A0}" type="datetimeFigureOut">
              <a:rPr lang="en-US" smtClean="0"/>
              <a:t>5/2/2023</a:t>
            </a:fld>
            <a:endParaRPr lang="en-US"/>
          </a:p>
        </p:txBody>
      </p:sp>
      <p:sp>
        <p:nvSpPr>
          <p:cNvPr id="5" name="Footer Placeholder 4">
            <a:extLst>
              <a:ext uri="{FF2B5EF4-FFF2-40B4-BE49-F238E27FC236}">
                <a16:creationId xmlns:a16="http://schemas.microsoft.com/office/drawing/2014/main" id="{013EA0ED-4961-4254-B34E-71D14C4E05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497152-BD97-4A72-8B07-CD2BC57B84F6}"/>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4162147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4EAF4-C10D-4650-9587-15DA8E9F9C08}"/>
              </a:ext>
            </a:extLst>
          </p:cNvPr>
          <p:cNvSpPr>
            <a:spLocks noGrp="1"/>
          </p:cNvSpPr>
          <p:nvPr>
            <p:ph type="title"/>
          </p:nvPr>
        </p:nvSpPr>
        <p:spPr>
          <a:xfrm>
            <a:off x="1219200" y="1368862"/>
            <a:ext cx="9486900" cy="3679656"/>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BBA1D5C2-6E93-4B23-A0CA-D5D7E735C718}"/>
              </a:ext>
            </a:extLst>
          </p:cNvPr>
          <p:cNvSpPr>
            <a:spLocks noGrp="1"/>
          </p:cNvSpPr>
          <p:nvPr>
            <p:ph type="body" idx="1"/>
          </p:nvPr>
        </p:nvSpPr>
        <p:spPr>
          <a:xfrm>
            <a:off x="1219200" y="5318974"/>
            <a:ext cx="9486900" cy="853225"/>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E815BFB-5D28-4ABE-AD37-0C6C3FD949FE}"/>
              </a:ext>
            </a:extLst>
          </p:cNvPr>
          <p:cNvSpPr>
            <a:spLocks noGrp="1"/>
          </p:cNvSpPr>
          <p:nvPr>
            <p:ph type="dt" sz="half" idx="10"/>
          </p:nvPr>
        </p:nvSpPr>
        <p:spPr/>
        <p:txBody>
          <a:bodyPr/>
          <a:lstStyle/>
          <a:p>
            <a:fld id="{8C1E1FAD-7351-4908-963A-08EA8E4AB7A0}" type="datetimeFigureOut">
              <a:rPr lang="en-US" smtClean="0"/>
              <a:t>5/2/2023</a:t>
            </a:fld>
            <a:endParaRPr lang="en-US"/>
          </a:p>
        </p:txBody>
      </p:sp>
      <p:sp>
        <p:nvSpPr>
          <p:cNvPr id="5" name="Footer Placeholder 4">
            <a:extLst>
              <a:ext uri="{FF2B5EF4-FFF2-40B4-BE49-F238E27FC236}">
                <a16:creationId xmlns:a16="http://schemas.microsoft.com/office/drawing/2014/main" id="{65A4035B-0539-4A03-87C0-22E52C98B2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327ADF-48C9-49CF-BD4D-82399BF64AD3}"/>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1176830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A2FB-0310-4935-B7F7-E47876CD4E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987C14-52AB-4AAC-9038-29CF58EA6EA8}"/>
              </a:ext>
            </a:extLst>
          </p:cNvPr>
          <p:cNvSpPr>
            <a:spLocks noGrp="1"/>
          </p:cNvSpPr>
          <p:nvPr>
            <p:ph sz="half" idx="1"/>
          </p:nvPr>
        </p:nvSpPr>
        <p:spPr>
          <a:xfrm>
            <a:off x="1219200" y="2168278"/>
            <a:ext cx="4702921" cy="40086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CB2E45A-DCC0-4701-9D67-EF56AECE3432}"/>
              </a:ext>
            </a:extLst>
          </p:cNvPr>
          <p:cNvSpPr>
            <a:spLocks noGrp="1"/>
          </p:cNvSpPr>
          <p:nvPr>
            <p:ph sz="half" idx="2"/>
          </p:nvPr>
        </p:nvSpPr>
        <p:spPr>
          <a:xfrm>
            <a:off x="6269880" y="2168278"/>
            <a:ext cx="4782699" cy="40086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11AF0813-A167-4D17-AA79-07BD9765FE0D}"/>
              </a:ext>
            </a:extLst>
          </p:cNvPr>
          <p:cNvSpPr>
            <a:spLocks noGrp="1"/>
          </p:cNvSpPr>
          <p:nvPr>
            <p:ph type="dt" sz="half" idx="10"/>
          </p:nvPr>
        </p:nvSpPr>
        <p:spPr/>
        <p:txBody>
          <a:bodyPr/>
          <a:lstStyle/>
          <a:p>
            <a:fld id="{8C1E1FAD-7351-4908-963A-08EA8E4AB7A0}" type="datetimeFigureOut">
              <a:rPr lang="en-US" smtClean="0"/>
              <a:t>5/2/2023</a:t>
            </a:fld>
            <a:endParaRPr lang="en-US"/>
          </a:p>
        </p:txBody>
      </p:sp>
      <p:sp>
        <p:nvSpPr>
          <p:cNvPr id="6" name="Footer Placeholder 5">
            <a:extLst>
              <a:ext uri="{FF2B5EF4-FFF2-40B4-BE49-F238E27FC236}">
                <a16:creationId xmlns:a16="http://schemas.microsoft.com/office/drawing/2014/main" id="{40A940D7-D4C1-4C24-95F3-29A849CEEE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949AB7-007E-4D4D-A2C1-2C5C3310C0B6}"/>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2032371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0184-BDFD-48DE-B858-B81887BFD302}"/>
              </a:ext>
            </a:extLst>
          </p:cNvPr>
          <p:cNvSpPr>
            <a:spLocks noGrp="1"/>
          </p:cNvSpPr>
          <p:nvPr>
            <p:ph type="title"/>
          </p:nvPr>
        </p:nvSpPr>
        <p:spPr>
          <a:xfrm>
            <a:off x="1219200" y="365125"/>
            <a:ext cx="9753599" cy="157797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1724FEB2-6EEC-49D4-9466-0F7A6EDB0CB6}"/>
              </a:ext>
            </a:extLst>
          </p:cNvPr>
          <p:cNvSpPr>
            <a:spLocks noGrp="1"/>
          </p:cNvSpPr>
          <p:nvPr>
            <p:ph type="body" idx="1"/>
          </p:nvPr>
        </p:nvSpPr>
        <p:spPr>
          <a:xfrm>
            <a:off x="1219201" y="2109789"/>
            <a:ext cx="4507931" cy="837257"/>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BDE8CF0-BAB6-4BF2-836F-FED0AF88A8AA}"/>
              </a:ext>
            </a:extLst>
          </p:cNvPr>
          <p:cNvSpPr>
            <a:spLocks noGrp="1"/>
          </p:cNvSpPr>
          <p:nvPr>
            <p:ph sz="half" idx="2"/>
          </p:nvPr>
        </p:nvSpPr>
        <p:spPr>
          <a:xfrm>
            <a:off x="1219201" y="3063530"/>
            <a:ext cx="4507930" cy="312613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5F0751AB-FCF0-450B-A6DF-9B9A2AD2C24A}"/>
              </a:ext>
            </a:extLst>
          </p:cNvPr>
          <p:cNvSpPr>
            <a:spLocks noGrp="1"/>
          </p:cNvSpPr>
          <p:nvPr>
            <p:ph type="body" sz="quarter" idx="3"/>
          </p:nvPr>
        </p:nvSpPr>
        <p:spPr>
          <a:xfrm>
            <a:off x="6464867" y="2109789"/>
            <a:ext cx="4507932" cy="837257"/>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D3898E7-3130-4CE6-AA11-C9CC8214EA1D}"/>
              </a:ext>
            </a:extLst>
          </p:cNvPr>
          <p:cNvSpPr>
            <a:spLocks noGrp="1"/>
          </p:cNvSpPr>
          <p:nvPr>
            <p:ph sz="quarter" idx="4"/>
          </p:nvPr>
        </p:nvSpPr>
        <p:spPr>
          <a:xfrm>
            <a:off x="6464867" y="3063530"/>
            <a:ext cx="4507932" cy="312613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5D85675-9678-4CB3-9AAB-D727D2B58E7A}"/>
              </a:ext>
            </a:extLst>
          </p:cNvPr>
          <p:cNvSpPr>
            <a:spLocks noGrp="1"/>
          </p:cNvSpPr>
          <p:nvPr>
            <p:ph type="dt" sz="half" idx="10"/>
          </p:nvPr>
        </p:nvSpPr>
        <p:spPr/>
        <p:txBody>
          <a:bodyPr/>
          <a:lstStyle/>
          <a:p>
            <a:fld id="{8C1E1FAD-7351-4908-963A-08EA8E4AB7A0}" type="datetimeFigureOut">
              <a:rPr lang="en-US" smtClean="0"/>
              <a:t>5/2/2023</a:t>
            </a:fld>
            <a:endParaRPr lang="en-US"/>
          </a:p>
        </p:txBody>
      </p:sp>
      <p:sp>
        <p:nvSpPr>
          <p:cNvPr id="8" name="Footer Placeholder 7">
            <a:extLst>
              <a:ext uri="{FF2B5EF4-FFF2-40B4-BE49-F238E27FC236}">
                <a16:creationId xmlns:a16="http://schemas.microsoft.com/office/drawing/2014/main" id="{445F8314-1849-461A-AAF2-BF149646D5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69738E-5865-473C-BAFB-BDB385C06931}"/>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2915742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7AC40-59FF-4CE3-B49C-C824A784C5F7}"/>
              </a:ext>
            </a:extLst>
          </p:cNvPr>
          <p:cNvSpPr>
            <a:spLocks noGrp="1"/>
          </p:cNvSpPr>
          <p:nvPr>
            <p:ph type="title"/>
          </p:nvPr>
        </p:nvSpPr>
        <p:spPr>
          <a:xfrm>
            <a:off x="1219200" y="365125"/>
            <a:ext cx="9493249" cy="1577975"/>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F92FAB63-E9CE-4359-A54B-07AC7E9BBAE3}"/>
              </a:ext>
            </a:extLst>
          </p:cNvPr>
          <p:cNvSpPr>
            <a:spLocks noGrp="1"/>
          </p:cNvSpPr>
          <p:nvPr>
            <p:ph type="dt" sz="half" idx="10"/>
          </p:nvPr>
        </p:nvSpPr>
        <p:spPr/>
        <p:txBody>
          <a:bodyPr/>
          <a:lstStyle/>
          <a:p>
            <a:fld id="{8C1E1FAD-7351-4908-963A-08EA8E4AB7A0}" type="datetimeFigureOut">
              <a:rPr lang="en-US" smtClean="0"/>
              <a:t>5/2/2023</a:t>
            </a:fld>
            <a:endParaRPr lang="en-US"/>
          </a:p>
        </p:txBody>
      </p:sp>
      <p:sp>
        <p:nvSpPr>
          <p:cNvPr id="4" name="Footer Placeholder 3">
            <a:extLst>
              <a:ext uri="{FF2B5EF4-FFF2-40B4-BE49-F238E27FC236}">
                <a16:creationId xmlns:a16="http://schemas.microsoft.com/office/drawing/2014/main" id="{C7939854-5165-4C41-8DCA-D42DFD7D90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1768E0-4535-4B0D-8B94-4C10740B0A6B}"/>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1265613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4678E3-D115-4E49-9ECB-656CF2319E94}"/>
              </a:ext>
            </a:extLst>
          </p:cNvPr>
          <p:cNvSpPr>
            <a:spLocks noGrp="1"/>
          </p:cNvSpPr>
          <p:nvPr>
            <p:ph type="dt" sz="half" idx="10"/>
          </p:nvPr>
        </p:nvSpPr>
        <p:spPr/>
        <p:txBody>
          <a:bodyPr/>
          <a:lstStyle/>
          <a:p>
            <a:fld id="{8C1E1FAD-7351-4908-963A-08EA8E4AB7A0}" type="datetimeFigureOut">
              <a:rPr lang="en-US" smtClean="0"/>
              <a:t>5/2/2023</a:t>
            </a:fld>
            <a:endParaRPr lang="en-US"/>
          </a:p>
        </p:txBody>
      </p:sp>
      <p:sp>
        <p:nvSpPr>
          <p:cNvPr id="3" name="Footer Placeholder 2">
            <a:extLst>
              <a:ext uri="{FF2B5EF4-FFF2-40B4-BE49-F238E27FC236}">
                <a16:creationId xmlns:a16="http://schemas.microsoft.com/office/drawing/2014/main" id="{E521E6FC-7F84-4673-81D6-B85FE26DA0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80318A-245C-4841-AB57-CEC5CC124D02}"/>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4142398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F847B-9D86-47FF-B24A-EEA5F73EA144}"/>
              </a:ext>
            </a:extLst>
          </p:cNvPr>
          <p:cNvSpPr>
            <a:spLocks noGrp="1"/>
          </p:cNvSpPr>
          <p:nvPr>
            <p:ph type="title"/>
          </p:nvPr>
        </p:nvSpPr>
        <p:spPr>
          <a:xfrm>
            <a:off x="1219200" y="457200"/>
            <a:ext cx="3776472" cy="2852928"/>
          </a:xfrm>
        </p:spPr>
        <p:txBody>
          <a:bodyPr anchor="b">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ADAC0675-AD2F-44DC-8FF3-4454258A5908}"/>
              </a:ext>
            </a:extLst>
          </p:cNvPr>
          <p:cNvSpPr>
            <a:spLocks noGrp="1"/>
          </p:cNvSpPr>
          <p:nvPr>
            <p:ph idx="1"/>
          </p:nvPr>
        </p:nvSpPr>
        <p:spPr>
          <a:xfrm>
            <a:off x="5557582" y="987425"/>
            <a:ext cx="5948618"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1D96356-C0F0-4C22-B9B6-C7E0BE4F3702}"/>
              </a:ext>
            </a:extLst>
          </p:cNvPr>
          <p:cNvSpPr>
            <a:spLocks noGrp="1"/>
          </p:cNvSpPr>
          <p:nvPr>
            <p:ph type="body" sz="half" idx="2"/>
          </p:nvPr>
        </p:nvSpPr>
        <p:spPr>
          <a:xfrm>
            <a:off x="1219200" y="3484210"/>
            <a:ext cx="3768934" cy="238477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AF3EFD71-2ACA-4041-9EA2-86E7B81C314D}"/>
              </a:ext>
            </a:extLst>
          </p:cNvPr>
          <p:cNvSpPr>
            <a:spLocks noGrp="1"/>
          </p:cNvSpPr>
          <p:nvPr>
            <p:ph type="dt" sz="half" idx="10"/>
          </p:nvPr>
        </p:nvSpPr>
        <p:spPr/>
        <p:txBody>
          <a:bodyPr/>
          <a:lstStyle/>
          <a:p>
            <a:fld id="{8C1E1FAD-7351-4908-963A-08EA8E4AB7A0}" type="datetimeFigureOut">
              <a:rPr lang="en-US" smtClean="0"/>
              <a:t>5/2/2023</a:t>
            </a:fld>
            <a:endParaRPr lang="en-US"/>
          </a:p>
        </p:txBody>
      </p:sp>
      <p:sp>
        <p:nvSpPr>
          <p:cNvPr id="6" name="Footer Placeholder 5">
            <a:extLst>
              <a:ext uri="{FF2B5EF4-FFF2-40B4-BE49-F238E27FC236}">
                <a16:creationId xmlns:a16="http://schemas.microsoft.com/office/drawing/2014/main" id="{14ECACE3-32A8-4245-97AC-5797C147E7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D63845-314D-499C-BB75-CE9162BE6EEB}"/>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196729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6D3DB-B1F8-4892-96F7-0BE21DE637CD}"/>
              </a:ext>
            </a:extLst>
          </p:cNvPr>
          <p:cNvSpPr>
            <a:spLocks noGrp="1"/>
          </p:cNvSpPr>
          <p:nvPr>
            <p:ph type="title"/>
          </p:nvPr>
        </p:nvSpPr>
        <p:spPr>
          <a:xfrm>
            <a:off x="1219200" y="457200"/>
            <a:ext cx="3932349" cy="2852670"/>
          </a:xfrm>
        </p:spPr>
        <p:txBody>
          <a:bodyPr anchor="b">
            <a:noAutofit/>
          </a:bodyPr>
          <a:lstStyle>
            <a:lvl1pPr>
              <a:defRPr sz="4000"/>
            </a:lvl1pPr>
          </a:lstStyle>
          <a:p>
            <a:r>
              <a:rPr lang="en-US" dirty="0"/>
              <a:t>Click to edit Master title style</a:t>
            </a:r>
          </a:p>
        </p:txBody>
      </p:sp>
      <p:sp>
        <p:nvSpPr>
          <p:cNvPr id="3" name="Picture Placeholder 2">
            <a:extLst>
              <a:ext uri="{FF2B5EF4-FFF2-40B4-BE49-F238E27FC236}">
                <a16:creationId xmlns:a16="http://schemas.microsoft.com/office/drawing/2014/main" id="{A40AB405-B2E9-4C4B-930C-CF1B63342F1D}"/>
              </a:ext>
            </a:extLst>
          </p:cNvPr>
          <p:cNvSpPr>
            <a:spLocks noGrp="1"/>
          </p:cNvSpPr>
          <p:nvPr>
            <p:ph type="pic" idx="1"/>
          </p:nvPr>
        </p:nvSpPr>
        <p:spPr>
          <a:xfrm>
            <a:off x="5674810" y="657055"/>
            <a:ext cx="5831389" cy="55151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8AF82ED-5295-4670-A3A8-B7813FF4713F}"/>
              </a:ext>
            </a:extLst>
          </p:cNvPr>
          <p:cNvSpPr>
            <a:spLocks noGrp="1"/>
          </p:cNvSpPr>
          <p:nvPr>
            <p:ph type="body" sz="half" idx="2"/>
          </p:nvPr>
        </p:nvSpPr>
        <p:spPr>
          <a:xfrm>
            <a:off x="1219199" y="3484210"/>
            <a:ext cx="3768934" cy="23768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F8BCDD2-4389-41FA-BE68-6805E3290FCE}"/>
              </a:ext>
            </a:extLst>
          </p:cNvPr>
          <p:cNvSpPr>
            <a:spLocks noGrp="1"/>
          </p:cNvSpPr>
          <p:nvPr>
            <p:ph type="dt" sz="half" idx="10"/>
          </p:nvPr>
        </p:nvSpPr>
        <p:spPr/>
        <p:txBody>
          <a:bodyPr/>
          <a:lstStyle/>
          <a:p>
            <a:fld id="{8C1E1FAD-7351-4908-963A-08EA8E4AB7A0}" type="datetimeFigureOut">
              <a:rPr lang="en-US" smtClean="0"/>
              <a:t>5/2/2023</a:t>
            </a:fld>
            <a:endParaRPr lang="en-US"/>
          </a:p>
        </p:txBody>
      </p:sp>
      <p:sp>
        <p:nvSpPr>
          <p:cNvPr id="6" name="Footer Placeholder 5">
            <a:extLst>
              <a:ext uri="{FF2B5EF4-FFF2-40B4-BE49-F238E27FC236}">
                <a16:creationId xmlns:a16="http://schemas.microsoft.com/office/drawing/2014/main" id="{33C1D4C8-D966-41BE-B38F-54B9134FF7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A7339F-1169-4FB1-8FAA-781335ECB2AB}"/>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2359150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A6D4F-1C6D-40FB-9A92-C86C4E15C0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67BDDB-F95B-4041-AA53-71BBCB26D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977052-C8EA-459E-9E10-8EE28C50E166}"/>
              </a:ext>
            </a:extLst>
          </p:cNvPr>
          <p:cNvSpPr>
            <a:spLocks noGrp="1"/>
          </p:cNvSpPr>
          <p:nvPr>
            <p:ph type="dt" sz="half" idx="10"/>
          </p:nvPr>
        </p:nvSpPr>
        <p:spPr/>
        <p:txBody>
          <a:bodyPr/>
          <a:lstStyle/>
          <a:p>
            <a:fld id="{8C1E1FAD-7351-4908-963A-08EA8E4AB7A0}" type="datetimeFigureOut">
              <a:rPr lang="en-US" smtClean="0"/>
              <a:t>5/2/2023</a:t>
            </a:fld>
            <a:endParaRPr lang="en-US"/>
          </a:p>
        </p:txBody>
      </p:sp>
      <p:sp>
        <p:nvSpPr>
          <p:cNvPr id="5" name="Footer Placeholder 4">
            <a:extLst>
              <a:ext uri="{FF2B5EF4-FFF2-40B4-BE49-F238E27FC236}">
                <a16:creationId xmlns:a16="http://schemas.microsoft.com/office/drawing/2014/main" id="{1F3E6650-E3AD-4C98-88FE-F5152966FE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54FED5-B228-4E3C-BFEE-0BC47D950694}"/>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793797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0A243A-5463-4C65-85DA-03BECDAE63E2}"/>
              </a:ext>
            </a:extLst>
          </p:cNvPr>
          <p:cNvSpPr>
            <a:spLocks noGrp="1"/>
          </p:cNvSpPr>
          <p:nvPr>
            <p:ph type="title" orient="vert"/>
          </p:nvPr>
        </p:nvSpPr>
        <p:spPr>
          <a:xfrm>
            <a:off x="8831898" y="897973"/>
            <a:ext cx="2674301" cy="527898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9E10153C-6948-4108-8FF1-033F66D4CABA}"/>
              </a:ext>
            </a:extLst>
          </p:cNvPr>
          <p:cNvSpPr>
            <a:spLocks noGrp="1"/>
          </p:cNvSpPr>
          <p:nvPr>
            <p:ph type="body" orient="vert" idx="1"/>
          </p:nvPr>
        </p:nvSpPr>
        <p:spPr>
          <a:xfrm>
            <a:off x="838200" y="854169"/>
            <a:ext cx="7734300" cy="5322793"/>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9345988-B24C-46FE-87B0-55D4FB7CBC42}"/>
              </a:ext>
            </a:extLst>
          </p:cNvPr>
          <p:cNvSpPr>
            <a:spLocks noGrp="1"/>
          </p:cNvSpPr>
          <p:nvPr>
            <p:ph type="dt" sz="half" idx="10"/>
          </p:nvPr>
        </p:nvSpPr>
        <p:spPr/>
        <p:txBody>
          <a:bodyPr/>
          <a:lstStyle/>
          <a:p>
            <a:fld id="{8C1E1FAD-7351-4908-963A-08EA8E4AB7A0}" type="datetimeFigureOut">
              <a:rPr lang="en-US" smtClean="0"/>
              <a:t>5/2/2023</a:t>
            </a:fld>
            <a:endParaRPr lang="en-US"/>
          </a:p>
        </p:txBody>
      </p:sp>
      <p:sp>
        <p:nvSpPr>
          <p:cNvPr id="5" name="Footer Placeholder 4">
            <a:extLst>
              <a:ext uri="{FF2B5EF4-FFF2-40B4-BE49-F238E27FC236}">
                <a16:creationId xmlns:a16="http://schemas.microsoft.com/office/drawing/2014/main" id="{493AB2DB-BD1F-41F7-AC5E-57249C270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81E3DB-BDAB-40CA-ABA3-A3662C06881F}"/>
              </a:ext>
            </a:extLst>
          </p:cNvPr>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2451889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104591-A10E-46C3-952B-F25DCBDAD1BC}"/>
              </a:ext>
            </a:extLst>
          </p:cNvPr>
          <p:cNvSpPr>
            <a:spLocks noGrp="1"/>
          </p:cNvSpPr>
          <p:nvPr>
            <p:ph type="title"/>
          </p:nvPr>
        </p:nvSpPr>
        <p:spPr>
          <a:xfrm>
            <a:off x="1219200" y="365125"/>
            <a:ext cx="9493249" cy="1577975"/>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E1F77F62-7300-4B81-8F9B-D040A0EE1797}"/>
              </a:ext>
            </a:extLst>
          </p:cNvPr>
          <p:cNvSpPr>
            <a:spLocks noGrp="1"/>
          </p:cNvSpPr>
          <p:nvPr>
            <p:ph type="body" idx="1"/>
          </p:nvPr>
        </p:nvSpPr>
        <p:spPr>
          <a:xfrm>
            <a:off x="1219200" y="2318032"/>
            <a:ext cx="9493250" cy="38541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6252CF0-2C7E-4A4C-BD7E-B7CEFF0DC458}"/>
              </a:ext>
            </a:extLst>
          </p:cNvPr>
          <p:cNvSpPr>
            <a:spLocks noGrp="1"/>
          </p:cNvSpPr>
          <p:nvPr>
            <p:ph type="dt" sz="half" idx="2"/>
          </p:nvPr>
        </p:nvSpPr>
        <p:spPr>
          <a:xfrm rot="16200000">
            <a:off x="-1029207" y="4680813"/>
            <a:ext cx="2758330" cy="365125"/>
          </a:xfrm>
          <a:prstGeom prst="rect">
            <a:avLst/>
          </a:prstGeom>
        </p:spPr>
        <p:txBody>
          <a:bodyPr vert="horz" lIns="91440" tIns="45720" rIns="91440" bIns="45720" rtlCol="0" anchor="ctr"/>
          <a:lstStyle>
            <a:lvl1pPr algn="l">
              <a:defRPr sz="1100">
                <a:solidFill>
                  <a:schemeClr val="tx1"/>
                </a:solidFill>
              </a:defRPr>
            </a:lvl1pPr>
          </a:lstStyle>
          <a:p>
            <a:fld id="{8C1E1FAD-7351-4908-963A-08EA8E4AB7A0}" type="datetimeFigureOut">
              <a:rPr lang="en-US" smtClean="0"/>
              <a:t>5/2/2023</a:t>
            </a:fld>
            <a:endParaRPr lang="en-US"/>
          </a:p>
        </p:txBody>
      </p:sp>
      <p:sp>
        <p:nvSpPr>
          <p:cNvPr id="5" name="Footer Placeholder 4">
            <a:extLst>
              <a:ext uri="{FF2B5EF4-FFF2-40B4-BE49-F238E27FC236}">
                <a16:creationId xmlns:a16="http://schemas.microsoft.com/office/drawing/2014/main" id="{D2B49E98-61B4-4398-B18F-534336EA1747}"/>
              </a:ext>
            </a:extLst>
          </p:cNvPr>
          <p:cNvSpPr>
            <a:spLocks noGrp="1"/>
          </p:cNvSpPr>
          <p:nvPr>
            <p:ph type="ftr" sz="quarter" idx="3"/>
          </p:nvPr>
        </p:nvSpPr>
        <p:spPr>
          <a:xfrm>
            <a:off x="661112" y="6356350"/>
            <a:ext cx="5509684" cy="365125"/>
          </a:xfrm>
          <a:prstGeom prst="rect">
            <a:avLst/>
          </a:prstGeom>
        </p:spPr>
        <p:txBody>
          <a:bodyPr vert="horz" lIns="91440" tIns="45720" rIns="91440" bIns="45720" rtlCol="0" anchor="ctr"/>
          <a:lstStyle>
            <a:lvl1pPr algn="l">
              <a:defRPr sz="11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A676DC5D-5820-4314-ADE6-9CD1C7D4AB68}"/>
              </a:ext>
            </a:extLst>
          </p:cNvPr>
          <p:cNvSpPr>
            <a:spLocks noGrp="1"/>
          </p:cNvSpPr>
          <p:nvPr>
            <p:ph type="sldNum" sz="quarter" idx="4"/>
          </p:nvPr>
        </p:nvSpPr>
        <p:spPr>
          <a:xfrm>
            <a:off x="10905482" y="6356350"/>
            <a:ext cx="1112082" cy="365125"/>
          </a:xfrm>
          <a:prstGeom prst="rect">
            <a:avLst/>
          </a:prstGeom>
        </p:spPr>
        <p:txBody>
          <a:bodyPr vert="horz" lIns="91440" tIns="45720" rIns="91440" bIns="45720" rtlCol="0" anchor="ctr"/>
          <a:lstStyle>
            <a:lvl1pPr algn="r">
              <a:defRPr sz="1100">
                <a:solidFill>
                  <a:schemeClr val="tx1"/>
                </a:solidFill>
              </a:defRPr>
            </a:lvl1pPr>
          </a:lstStyle>
          <a:p>
            <a:fld id="{1CF2D47E-0AF1-4C27-801F-64E3E5BF7F72}" type="slidenum">
              <a:rPr lang="en-US" smtClean="0"/>
              <a:t>‹#›</a:t>
            </a:fld>
            <a:endParaRPr lang="en-US"/>
          </a:p>
        </p:txBody>
      </p:sp>
      <p:grpSp>
        <p:nvGrpSpPr>
          <p:cNvPr id="7" name="Group 6">
            <a:extLst>
              <a:ext uri="{FF2B5EF4-FFF2-40B4-BE49-F238E27FC236}">
                <a16:creationId xmlns:a16="http://schemas.microsoft.com/office/drawing/2014/main" id="{23F5135F-115E-423C-BE4A-B56C35DC9F3E}"/>
              </a:ext>
            </a:extLst>
          </p:cNvPr>
          <p:cNvGrpSpPr/>
          <p:nvPr/>
        </p:nvGrpSpPr>
        <p:grpSpPr>
          <a:xfrm>
            <a:off x="174436" y="6356005"/>
            <a:ext cx="358083" cy="358083"/>
            <a:chOff x="4135740" y="1745599"/>
            <a:chExt cx="558732" cy="558732"/>
          </a:xfrm>
        </p:grpSpPr>
        <p:grpSp>
          <p:nvGrpSpPr>
            <p:cNvPr id="8" name="Group 7">
              <a:extLst>
                <a:ext uri="{FF2B5EF4-FFF2-40B4-BE49-F238E27FC236}">
                  <a16:creationId xmlns:a16="http://schemas.microsoft.com/office/drawing/2014/main" id="{82C1E318-0F1F-4920-8C7D-FBAC66631B54}"/>
                </a:ext>
              </a:extLst>
            </p:cNvPr>
            <p:cNvGrpSpPr/>
            <p:nvPr/>
          </p:nvGrpSpPr>
          <p:grpSpPr>
            <a:xfrm>
              <a:off x="4135740" y="1745599"/>
              <a:ext cx="558732" cy="558732"/>
              <a:chOff x="1028007" y="1706560"/>
              <a:chExt cx="575710" cy="575710"/>
            </a:xfrm>
          </p:grpSpPr>
          <p:cxnSp>
            <p:nvCxnSpPr>
              <p:cNvPr id="10" name="Straight Connector 9">
                <a:extLst>
                  <a:ext uri="{FF2B5EF4-FFF2-40B4-BE49-F238E27FC236}">
                    <a16:creationId xmlns:a16="http://schemas.microsoft.com/office/drawing/2014/main" id="{DE4A7237-B6EB-4FB7-8B68-7C27438D477D}"/>
                  </a:ext>
                </a:extLst>
              </p:cNvPr>
              <p:cNvCxnSpPr>
                <a:cxnSpLocks/>
              </p:cNvCxnSpPr>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4E00FDE-0838-4B5B-A782-6B6C92DB0A89}"/>
                  </a:ext>
                </a:extLst>
              </p:cNvPr>
              <p:cNvCxnSpPr>
                <a:cxnSpLocks/>
              </p:cNvCxnSpPr>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2BC1B2F3-8E83-4A70-B103-979C67EECED1}"/>
                </a:ext>
              </a:extLst>
            </p:cNvPr>
            <p:cNvSpPr/>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8840917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8" r:id="rId6"/>
    <p:sldLayoutId id="2147483693" r:id="rId7"/>
    <p:sldLayoutId id="2147483694" r:id="rId8"/>
    <p:sldLayoutId id="2147483695" r:id="rId9"/>
    <p:sldLayoutId id="2147483697" r:id="rId10"/>
    <p:sldLayoutId id="2147483696" r:id="rId11"/>
  </p:sldLayoutIdLst>
  <p:txStyles>
    <p:titleStyle>
      <a:lvl1pPr algn="l" defTabSz="914400" rtl="0" eaLnBrk="1" latinLnBrk="0" hangingPunct="1">
        <a:lnSpc>
          <a:spcPct val="120000"/>
        </a:lnSpc>
        <a:spcBef>
          <a:spcPct val="0"/>
        </a:spcBef>
        <a:buNone/>
        <a:defRPr sz="4000" i="1" kern="1200">
          <a:solidFill>
            <a:srgbClr val="000000"/>
          </a:solidFill>
          <a:highlight>
            <a:srgbClr val="FFFF00"/>
          </a:highligh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Consolas" panose="020B0609020204030204" pitchFamily="49" charset="0"/>
        <a:buChar char="+"/>
        <a:defRPr sz="1400" kern="1200">
          <a:solidFill>
            <a:schemeClr val="tx1"/>
          </a:solidFill>
          <a:latin typeface="+mn-lt"/>
          <a:ea typeface="+mn-ea"/>
          <a:cs typeface="+mn-cs"/>
        </a:defRPr>
      </a:lvl2pPr>
      <a:lvl3pPr marL="64008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22960" indent="-228600" algn="l" defTabSz="914400" rtl="0" eaLnBrk="1" latinLnBrk="0" hangingPunct="1">
        <a:lnSpc>
          <a:spcPct val="120000"/>
        </a:lnSpc>
        <a:spcBef>
          <a:spcPts val="500"/>
        </a:spcBef>
        <a:buFont typeface="Consolas" panose="020B0609020204030204" pitchFamily="49" charset="0"/>
        <a:buChar char="+"/>
        <a:defRPr sz="1200" kern="1200">
          <a:solidFill>
            <a:schemeClr val="tx1"/>
          </a:solidFill>
          <a:latin typeface="+mn-lt"/>
          <a:ea typeface="+mn-ea"/>
          <a:cs typeface="+mn-cs"/>
        </a:defRPr>
      </a:lvl4pPr>
      <a:lvl5pPr marL="100584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45D307FA-6EBE-462C-99A2-25512D13E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EAF34AB-AE16-45B5-ABC1-801F06223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2"/>
            <a:srcRect/>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1009320-F509-1B78-D45D-F931A4145503}"/>
              </a:ext>
            </a:extLst>
          </p:cNvPr>
          <p:cNvPicPr>
            <a:picLocks noChangeAspect="1"/>
          </p:cNvPicPr>
          <p:nvPr/>
        </p:nvPicPr>
        <p:blipFill rotWithShape="1">
          <a:blip r:embed="rId3">
            <a:alphaModFix amt="84000"/>
          </a:blip>
          <a:srcRect t="12963" b="3394"/>
          <a:stretch/>
        </p:blipFill>
        <p:spPr>
          <a:xfrm>
            <a:off x="20" y="10"/>
            <a:ext cx="12191980" cy="6857990"/>
          </a:xfrm>
          <a:prstGeom prst="rect">
            <a:avLst/>
          </a:prstGeom>
        </p:spPr>
      </p:pic>
      <p:sp>
        <p:nvSpPr>
          <p:cNvPr id="28" name="Rectangle 27">
            <a:extLst>
              <a:ext uri="{FF2B5EF4-FFF2-40B4-BE49-F238E27FC236}">
                <a16:creationId xmlns:a16="http://schemas.microsoft.com/office/drawing/2014/main" id="{7B20F68C-33F0-439B-8625-CDC2BA6761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3429000"/>
            <a:ext cx="12191999" cy="3429000"/>
          </a:xfrm>
          <a:prstGeom prst="rect">
            <a:avLst/>
          </a:prstGeom>
          <a:gradFill flip="none" rotWithShape="1">
            <a:gsLst>
              <a:gs pos="0">
                <a:srgbClr val="000000">
                  <a:alpha val="35000"/>
                </a:srgbClr>
              </a:gs>
              <a:gs pos="100000">
                <a:srgbClr val="000000">
                  <a:alpha val="0"/>
                </a:srgbClr>
              </a:gs>
              <a:gs pos="37000">
                <a:srgbClr val="000000">
                  <a:alpha val="2000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7FE8A6FC-702F-F5F0-941D-6BF40E57CE14}"/>
              </a:ext>
            </a:extLst>
          </p:cNvPr>
          <p:cNvSpPr>
            <a:spLocks noGrp="1"/>
          </p:cNvSpPr>
          <p:nvPr>
            <p:ph type="ctrTitle"/>
          </p:nvPr>
        </p:nvSpPr>
        <p:spPr>
          <a:xfrm>
            <a:off x="1219200" y="3429000"/>
            <a:ext cx="8667404" cy="2028824"/>
          </a:xfrm>
        </p:spPr>
        <p:txBody>
          <a:bodyPr>
            <a:normAutofit/>
          </a:bodyPr>
          <a:lstStyle/>
          <a:p>
            <a:r>
              <a:rPr lang="tr-TR" sz="4000" dirty="0">
                <a:highlight>
                  <a:srgbClr val="C0C0C0"/>
                </a:highlight>
              </a:rPr>
              <a:t>Expectation and Perceived Time</a:t>
            </a:r>
            <a:endParaRPr lang="en-US" sz="4000" dirty="0">
              <a:highlight>
                <a:srgbClr val="C0C0C0"/>
              </a:highlight>
            </a:endParaRPr>
          </a:p>
        </p:txBody>
      </p:sp>
      <p:sp>
        <p:nvSpPr>
          <p:cNvPr id="3" name="Subtitle 2">
            <a:extLst>
              <a:ext uri="{FF2B5EF4-FFF2-40B4-BE49-F238E27FC236}">
                <a16:creationId xmlns:a16="http://schemas.microsoft.com/office/drawing/2014/main" id="{48BE556D-7E36-AD95-BADA-FC882B6C505D}"/>
              </a:ext>
            </a:extLst>
          </p:cNvPr>
          <p:cNvSpPr>
            <a:spLocks noGrp="1"/>
          </p:cNvSpPr>
          <p:nvPr>
            <p:ph type="subTitle" idx="1"/>
          </p:nvPr>
        </p:nvSpPr>
        <p:spPr>
          <a:xfrm>
            <a:off x="1219200" y="5617028"/>
            <a:ext cx="7360421" cy="555171"/>
          </a:xfrm>
        </p:spPr>
        <p:txBody>
          <a:bodyPr>
            <a:normAutofit/>
          </a:bodyPr>
          <a:lstStyle/>
          <a:p>
            <a:r>
              <a:rPr lang="tr-TR" dirty="0">
                <a:solidFill>
                  <a:srgbClr val="FFFFFF"/>
                </a:solidFill>
              </a:rPr>
              <a:t>Omer F. Yildiran</a:t>
            </a:r>
            <a:endParaRPr lang="en-US" dirty="0">
              <a:solidFill>
                <a:srgbClr val="FFFFFF"/>
              </a:solidFill>
            </a:endParaRPr>
          </a:p>
        </p:txBody>
      </p:sp>
      <p:grpSp>
        <p:nvGrpSpPr>
          <p:cNvPr id="30" name="Group 29">
            <a:extLst>
              <a:ext uri="{FF2B5EF4-FFF2-40B4-BE49-F238E27FC236}">
                <a16:creationId xmlns:a16="http://schemas.microsoft.com/office/drawing/2014/main" id="{EA453187-2CF0-46A9-AA9B-8918BA68D0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31" name="Group 30">
              <a:extLst>
                <a:ext uri="{FF2B5EF4-FFF2-40B4-BE49-F238E27FC236}">
                  <a16:creationId xmlns:a16="http://schemas.microsoft.com/office/drawing/2014/main" id="{16B33614-B2DD-490C-BEA3-564129B6AA4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33" name="Straight Connector 32">
                <a:extLst>
                  <a:ext uri="{FF2B5EF4-FFF2-40B4-BE49-F238E27FC236}">
                    <a16:creationId xmlns:a16="http://schemas.microsoft.com/office/drawing/2014/main" id="{BA8B0DBA-6761-4CDC-8B71-C1594FC5B0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1A15258-2360-45C1-8DBA-ACD6A10026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grpSp>
        <p:sp>
          <p:nvSpPr>
            <p:cNvPr id="32" name="Oval 31">
              <a:extLst>
                <a:ext uri="{FF2B5EF4-FFF2-40B4-BE49-F238E27FC236}">
                  <a16:creationId xmlns:a16="http://schemas.microsoft.com/office/drawing/2014/main" id="{0AE5B18B-E1A6-4A04-86B9-294AC2BCFE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96894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9A4B8-3797-8599-05CC-2C59CE08CF7A}"/>
              </a:ext>
            </a:extLst>
          </p:cNvPr>
          <p:cNvSpPr>
            <a:spLocks noGrp="1"/>
          </p:cNvSpPr>
          <p:nvPr>
            <p:ph type="title"/>
          </p:nvPr>
        </p:nvSpPr>
        <p:spPr/>
        <p:txBody>
          <a:bodyPr/>
          <a:lstStyle/>
          <a:p>
            <a:endParaRPr lang="en-US"/>
          </a:p>
        </p:txBody>
      </p:sp>
      <p:pic>
        <p:nvPicPr>
          <p:cNvPr id="4" name="Introduction@2023-05-01@20-09-14">
            <a:hlinkClick r:id="" action="ppaction://media"/>
            <a:extLst>
              <a:ext uri="{FF2B5EF4-FFF2-40B4-BE49-F238E27FC236}">
                <a16:creationId xmlns:a16="http://schemas.microsoft.com/office/drawing/2014/main" id="{128648BA-1D6E-C5A4-4176-AC4EE94A3A4D}"/>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0042" y="0"/>
            <a:ext cx="12202042" cy="6858000"/>
          </a:xfrm>
        </p:spPr>
      </p:pic>
    </p:spTree>
    <p:extLst>
      <p:ext uri="{BB962C8B-B14F-4D97-AF65-F5344CB8AC3E}">
        <p14:creationId xmlns:p14="http://schemas.microsoft.com/office/powerpoint/2010/main" val="2099888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092CAB0C-70DE-4DC8-BA46-0246B910F6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5E75A6E-4C70-434C-5924-B9A405D5488B}"/>
              </a:ext>
            </a:extLst>
          </p:cNvPr>
          <p:cNvSpPr>
            <a:spLocks noGrp="1"/>
          </p:cNvSpPr>
          <p:nvPr>
            <p:ph idx="1"/>
          </p:nvPr>
        </p:nvSpPr>
        <p:spPr>
          <a:xfrm>
            <a:off x="2736669" y="2590800"/>
            <a:ext cx="6688182" cy="3581400"/>
          </a:xfrm>
        </p:spPr>
        <p:txBody>
          <a:bodyPr>
            <a:normAutofit/>
          </a:bodyPr>
          <a:lstStyle/>
          <a:p>
            <a:pPr marL="0" marR="0" algn="ctr">
              <a:spcBef>
                <a:spcPts val="0"/>
              </a:spcBef>
              <a:spcAft>
                <a:spcPts val="0"/>
              </a:spcAft>
            </a:pPr>
            <a:r>
              <a:rPr lang="en-US" b="1" dirty="0">
                <a:effectLst/>
                <a:latin typeface="Garamond" panose="02020404030301010803" pitchFamily="18" charset="0"/>
              </a:rPr>
              <a:t>Time is a flat circle</a:t>
            </a:r>
            <a:r>
              <a:rPr lang="en-US" dirty="0">
                <a:effectLst/>
                <a:latin typeface="Garamond" panose="02020404030301010803" pitchFamily="18" charset="0"/>
              </a:rPr>
              <a:t>. Everything we have done or will do we will do over and over and over again—</a:t>
            </a:r>
            <a:r>
              <a:rPr lang="tr-TR" i="1" dirty="0">
                <a:effectLst/>
                <a:latin typeface="Garamond" panose="02020404030301010803" pitchFamily="18" charset="0"/>
              </a:rPr>
              <a:t>forever</a:t>
            </a:r>
            <a:r>
              <a:rPr lang="en-US" dirty="0">
                <a:effectLst/>
                <a:latin typeface="Garamond" panose="02020404030301010803" pitchFamily="18" charset="0"/>
              </a:rPr>
              <a:t>.</a:t>
            </a:r>
            <a:r>
              <a:rPr lang="tr-TR" dirty="0">
                <a:effectLst/>
                <a:latin typeface="Garamond" panose="02020404030301010803" pitchFamily="18" charset="0"/>
              </a:rPr>
              <a:t>  - Rust Cohle (True Detective)</a:t>
            </a:r>
          </a:p>
          <a:p>
            <a:pPr algn="ctr"/>
            <a:endParaRPr lang="en-US" dirty="0"/>
          </a:p>
        </p:txBody>
      </p:sp>
      <p:grpSp>
        <p:nvGrpSpPr>
          <p:cNvPr id="17" name="Group 9">
            <a:extLst>
              <a:ext uri="{FF2B5EF4-FFF2-40B4-BE49-F238E27FC236}">
                <a16:creationId xmlns:a16="http://schemas.microsoft.com/office/drawing/2014/main" id="{27686979-EF4E-47AD-9ABF-CFD1C5AC27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11" name="Group 10">
              <a:extLst>
                <a:ext uri="{FF2B5EF4-FFF2-40B4-BE49-F238E27FC236}">
                  <a16:creationId xmlns:a16="http://schemas.microsoft.com/office/drawing/2014/main" id="{EB4EAB5A-33BE-44EA-84C8-5446C3225A7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13" name="Straight Connector 12">
                <a:extLst>
                  <a:ext uri="{FF2B5EF4-FFF2-40B4-BE49-F238E27FC236}">
                    <a16:creationId xmlns:a16="http://schemas.microsoft.com/office/drawing/2014/main" id="{A7AA46DE-C3A7-41A3-BF3B-358FB3EF61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D4426D2-7B82-4A15-A406-9CA7655EBC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Oval 11">
              <a:extLst>
                <a:ext uri="{FF2B5EF4-FFF2-40B4-BE49-F238E27FC236}">
                  <a16:creationId xmlns:a16="http://schemas.microsoft.com/office/drawing/2014/main" id="{5C91F0D9-BE92-48CA-875E-CEC979B4B2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36092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3C781-CB43-F88B-E117-DA47A5678A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744633F-94F0-FF7E-CB79-D55EEA989A9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657487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117F8-8194-9052-2697-7CDA4FC6C517}"/>
              </a:ext>
            </a:extLst>
          </p:cNvPr>
          <p:cNvSpPr>
            <a:spLocks noGrp="1"/>
          </p:cNvSpPr>
          <p:nvPr>
            <p:ph type="title"/>
          </p:nvPr>
        </p:nvSpPr>
        <p:spPr/>
        <p:txBody>
          <a:bodyPr/>
          <a:lstStyle/>
          <a:p>
            <a:r>
              <a:rPr lang="en-US" dirty="0"/>
              <a:t>H</a:t>
            </a:r>
            <a:r>
              <a:rPr lang="tr-TR" dirty="0"/>
              <a:t>ow do we study time perception</a:t>
            </a:r>
            <a:r>
              <a:rPr lang="en-US" dirty="0"/>
              <a:t>?</a:t>
            </a:r>
          </a:p>
        </p:txBody>
      </p:sp>
      <p:sp>
        <p:nvSpPr>
          <p:cNvPr id="3" name="Content Placeholder 2">
            <a:extLst>
              <a:ext uri="{FF2B5EF4-FFF2-40B4-BE49-F238E27FC236}">
                <a16:creationId xmlns:a16="http://schemas.microsoft.com/office/drawing/2014/main" id="{C7A67D2D-E055-111C-DD5E-4FD275096773}"/>
              </a:ext>
            </a:extLst>
          </p:cNvPr>
          <p:cNvSpPr>
            <a:spLocks noGrp="1"/>
          </p:cNvSpPr>
          <p:nvPr>
            <p:ph idx="1"/>
          </p:nvPr>
        </p:nvSpPr>
        <p:spPr/>
        <p:txBody>
          <a:bodyPr/>
          <a:lstStyle/>
          <a:p>
            <a:r>
              <a:rPr lang="tr-TR" dirty="0"/>
              <a:t>Duration (How long?)</a:t>
            </a:r>
          </a:p>
          <a:p>
            <a:r>
              <a:rPr lang="tr-TR" dirty="0"/>
              <a:t>Moment (When?)</a:t>
            </a:r>
          </a:p>
          <a:p>
            <a:pPr lvl="1"/>
            <a:r>
              <a:rPr lang="tr-TR" sz="1600" dirty="0"/>
              <a:t>Retrospective Timing</a:t>
            </a:r>
          </a:p>
          <a:p>
            <a:pPr lvl="1"/>
            <a:r>
              <a:rPr lang="tr-TR" sz="1600" dirty="0"/>
              <a:t>Prospective Timing</a:t>
            </a:r>
          </a:p>
          <a:p>
            <a:pPr lvl="1"/>
            <a:endParaRPr lang="tr-TR" dirty="0"/>
          </a:p>
          <a:p>
            <a:pPr lvl="1"/>
            <a:endParaRPr lang="en-US" dirty="0"/>
          </a:p>
        </p:txBody>
      </p:sp>
    </p:spTree>
    <p:extLst>
      <p:ext uri="{BB962C8B-B14F-4D97-AF65-F5344CB8AC3E}">
        <p14:creationId xmlns:p14="http://schemas.microsoft.com/office/powerpoint/2010/main" val="3206006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EB3B092-E910-E428-0884-6D96225440A3}"/>
              </a:ext>
            </a:extLst>
          </p:cNvPr>
          <p:cNvPicPr>
            <a:picLocks noChangeAspect="1"/>
          </p:cNvPicPr>
          <p:nvPr/>
        </p:nvPicPr>
        <p:blipFill>
          <a:blip r:embed="rId3">
            <a:duotone>
              <a:prstClr val="black"/>
              <a:schemeClr val="bg2">
                <a:lumMod val="25000"/>
                <a:tint val="45000"/>
                <a:satMod val="400000"/>
              </a:schemeClr>
            </a:duotone>
          </a:blip>
          <a:stretch>
            <a:fillRect/>
          </a:stretch>
        </p:blipFill>
        <p:spPr>
          <a:xfrm>
            <a:off x="2118757" y="418680"/>
            <a:ext cx="7954485" cy="6020640"/>
          </a:xfrm>
          <a:prstGeom prst="rect">
            <a:avLst/>
          </a:prstGeom>
        </p:spPr>
      </p:pic>
    </p:spTree>
    <p:extLst>
      <p:ext uri="{BB962C8B-B14F-4D97-AF65-F5344CB8AC3E}">
        <p14:creationId xmlns:p14="http://schemas.microsoft.com/office/powerpoint/2010/main" val="127305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B03CD-2DE4-C7E1-B52D-FE666550C0E7}"/>
              </a:ext>
            </a:extLst>
          </p:cNvPr>
          <p:cNvSpPr>
            <a:spLocks noGrp="1"/>
          </p:cNvSpPr>
          <p:nvPr>
            <p:ph type="title"/>
          </p:nvPr>
        </p:nvSpPr>
        <p:spPr/>
        <p:txBody>
          <a:bodyPr/>
          <a:lstStyle/>
          <a:p>
            <a:r>
              <a:rPr lang="tr-TR" dirty="0"/>
              <a:t>Methods to gather data</a:t>
            </a:r>
            <a:endParaRPr lang="en-US" dirty="0"/>
          </a:p>
        </p:txBody>
      </p:sp>
      <p:sp>
        <p:nvSpPr>
          <p:cNvPr id="3" name="Content Placeholder 2">
            <a:extLst>
              <a:ext uri="{FF2B5EF4-FFF2-40B4-BE49-F238E27FC236}">
                <a16:creationId xmlns:a16="http://schemas.microsoft.com/office/drawing/2014/main" id="{F239DB5C-E40C-5B4D-5FDE-9B6E684CAEC9}"/>
              </a:ext>
            </a:extLst>
          </p:cNvPr>
          <p:cNvSpPr>
            <a:spLocks noGrp="1"/>
          </p:cNvSpPr>
          <p:nvPr>
            <p:ph idx="1"/>
          </p:nvPr>
        </p:nvSpPr>
        <p:spPr/>
        <p:txBody>
          <a:bodyPr>
            <a:normAutofit fontScale="85000" lnSpcReduction="20000"/>
          </a:bodyPr>
          <a:lstStyle/>
          <a:p>
            <a:r>
              <a:rPr lang="en-US" dirty="0"/>
              <a:t>Verbal Estimation </a:t>
            </a:r>
            <a:endParaRPr lang="tr-TR" dirty="0"/>
          </a:p>
          <a:p>
            <a:r>
              <a:rPr lang="en-US" dirty="0"/>
              <a:t>Reproduction</a:t>
            </a:r>
            <a:endParaRPr lang="tr-TR" dirty="0"/>
          </a:p>
          <a:p>
            <a:pPr lvl="1"/>
            <a:r>
              <a:rPr lang="en-US" dirty="0"/>
              <a:t>An experimenter presents a target interval with a continuous sound or flash, for instance, and a participant reproduces the length of the interval by some operation.</a:t>
            </a:r>
            <a:endParaRPr lang="tr-TR" dirty="0"/>
          </a:p>
          <a:p>
            <a:r>
              <a:rPr lang="en-US" dirty="0"/>
              <a:t>Production</a:t>
            </a:r>
            <a:endParaRPr lang="tr-TR" dirty="0"/>
          </a:p>
          <a:p>
            <a:pPr lvl="1"/>
            <a:r>
              <a:rPr lang="en-US" dirty="0"/>
              <a:t>The production usually involves two-finger “taps” marking the beginning and end of the interval or pushing a button for a duration that is judged equivalent to the target interval. </a:t>
            </a:r>
            <a:endParaRPr lang="tr-TR" dirty="0"/>
          </a:p>
          <a:p>
            <a:r>
              <a:rPr lang="en-US" dirty="0"/>
              <a:t>Method of comparison</a:t>
            </a:r>
            <a:endParaRPr lang="tr-TR" dirty="0"/>
          </a:p>
          <a:p>
            <a:pPr lvl="1"/>
            <a:r>
              <a:rPr lang="tr-TR" dirty="0"/>
              <a:t>Whether</a:t>
            </a:r>
            <a:r>
              <a:rPr lang="en-US" dirty="0">
                <a:effectLst/>
              </a:rPr>
              <a:t> the second interval was shorter or longer than the first.</a:t>
            </a:r>
            <a:r>
              <a:rPr lang="en-US" dirty="0"/>
              <a:t> </a:t>
            </a:r>
            <a:endParaRPr lang="tr-TR" dirty="0"/>
          </a:p>
          <a:p>
            <a:pPr lvl="1"/>
            <a:r>
              <a:rPr lang="tr-TR" dirty="0">
                <a:effectLst/>
              </a:rPr>
              <a:t>T</a:t>
            </a:r>
            <a:r>
              <a:rPr lang="en-US" dirty="0">
                <a:effectLst/>
              </a:rPr>
              <a:t>wo-alternative forced choice (2AFC) condition</a:t>
            </a:r>
            <a:endParaRPr lang="tr-TR" dirty="0">
              <a:effectLst/>
            </a:endParaRPr>
          </a:p>
          <a:p>
            <a:pPr lvl="1"/>
            <a:r>
              <a:rPr lang="tr-TR" dirty="0"/>
              <a:t>Roving</a:t>
            </a:r>
          </a:p>
          <a:p>
            <a:pPr lvl="2"/>
            <a:r>
              <a:rPr lang="tr-TR" dirty="0"/>
              <a:t>Standard varies</a:t>
            </a:r>
          </a:p>
          <a:p>
            <a:pPr lvl="1"/>
            <a:r>
              <a:rPr lang="tr-TR" dirty="0"/>
              <a:t>Reminder</a:t>
            </a:r>
          </a:p>
          <a:p>
            <a:pPr lvl="2"/>
            <a:r>
              <a:rPr lang="tr-TR" dirty="0"/>
              <a:t>Standard is same</a:t>
            </a:r>
            <a:endParaRPr lang="en-US" dirty="0"/>
          </a:p>
        </p:txBody>
      </p:sp>
    </p:spTree>
    <p:extLst>
      <p:ext uri="{BB962C8B-B14F-4D97-AF65-F5344CB8AC3E}">
        <p14:creationId xmlns:p14="http://schemas.microsoft.com/office/powerpoint/2010/main" val="407540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6AD51EB-971C-4722-9A98-42EB5ABCA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6BA43A-54F2-0416-34F7-16EDFAECE2D0}"/>
              </a:ext>
            </a:extLst>
          </p:cNvPr>
          <p:cNvSpPr>
            <a:spLocks noGrp="1"/>
          </p:cNvSpPr>
          <p:nvPr>
            <p:ph type="title"/>
          </p:nvPr>
        </p:nvSpPr>
        <p:spPr>
          <a:xfrm>
            <a:off x="1221476" y="681038"/>
            <a:ext cx="4352008" cy="1916504"/>
          </a:xfrm>
        </p:spPr>
        <p:txBody>
          <a:bodyPr>
            <a:normAutofit/>
          </a:bodyPr>
          <a:lstStyle/>
          <a:p>
            <a:pPr>
              <a:lnSpc>
                <a:spcPct val="110000"/>
              </a:lnSpc>
            </a:pPr>
            <a:r>
              <a:rPr lang="en-US" sz="3100" dirty="0" err="1"/>
              <a:t>Interferance</a:t>
            </a:r>
            <a:r>
              <a:rPr lang="en-US" sz="3100" dirty="0"/>
              <a:t> effect and attentional resources</a:t>
            </a:r>
            <a:r>
              <a:rPr lang="tr-TR" sz="3100" dirty="0"/>
              <a:t> on duration</a:t>
            </a:r>
            <a:endParaRPr lang="en-US" sz="3100" dirty="0"/>
          </a:p>
        </p:txBody>
      </p:sp>
      <p:sp>
        <p:nvSpPr>
          <p:cNvPr id="3" name="Content Placeholder 2">
            <a:extLst>
              <a:ext uri="{FF2B5EF4-FFF2-40B4-BE49-F238E27FC236}">
                <a16:creationId xmlns:a16="http://schemas.microsoft.com/office/drawing/2014/main" id="{A48BFCDA-40C2-7790-F92D-6BA138F9F974}"/>
              </a:ext>
            </a:extLst>
          </p:cNvPr>
          <p:cNvSpPr>
            <a:spLocks noGrp="1"/>
          </p:cNvSpPr>
          <p:nvPr>
            <p:ph idx="1"/>
          </p:nvPr>
        </p:nvSpPr>
        <p:spPr>
          <a:xfrm>
            <a:off x="1221476" y="2961280"/>
            <a:ext cx="4352009" cy="3215682"/>
          </a:xfrm>
        </p:spPr>
        <p:txBody>
          <a:bodyPr>
            <a:normAutofit/>
          </a:bodyPr>
          <a:lstStyle/>
          <a:p>
            <a:r>
              <a:rPr lang="tr-TR" b="1" dirty="0"/>
              <a:t>Dual-task conditions</a:t>
            </a:r>
          </a:p>
          <a:p>
            <a:r>
              <a:rPr lang="tr-TR" dirty="0"/>
              <a:t>Short</a:t>
            </a:r>
            <a:r>
              <a:rPr lang="en-US" dirty="0"/>
              <a:t> distractors caused the test interval to appear shorter</a:t>
            </a:r>
            <a:endParaRPr lang="tr-TR" dirty="0"/>
          </a:p>
          <a:p>
            <a:r>
              <a:rPr lang="tr-TR" dirty="0"/>
              <a:t>Longer </a:t>
            </a:r>
            <a:r>
              <a:rPr lang="en-US" dirty="0"/>
              <a:t>distractors had the opposite effect.</a:t>
            </a:r>
            <a:r>
              <a:rPr lang="tr-TR" dirty="0"/>
              <a:t> </a:t>
            </a:r>
          </a:p>
          <a:p>
            <a:r>
              <a:rPr lang="tr-TR" dirty="0"/>
              <a:t>Process of </a:t>
            </a:r>
            <a:r>
              <a:rPr lang="tr-TR" b="1" dirty="0"/>
              <a:t>assimilation</a:t>
            </a:r>
          </a:p>
          <a:p>
            <a:r>
              <a:rPr lang="en-US" b="1" dirty="0">
                <a:effectLst/>
              </a:rPr>
              <a:t>Effects are high in short interval</a:t>
            </a:r>
            <a:r>
              <a:rPr lang="tr-TR" b="1" dirty="0">
                <a:effectLst/>
              </a:rPr>
              <a:t> </a:t>
            </a:r>
            <a:endParaRPr lang="en-US" dirty="0"/>
          </a:p>
        </p:txBody>
      </p:sp>
      <p:pic>
        <p:nvPicPr>
          <p:cNvPr id="5" name="Picture 4">
            <a:extLst>
              <a:ext uri="{FF2B5EF4-FFF2-40B4-BE49-F238E27FC236}">
                <a16:creationId xmlns:a16="http://schemas.microsoft.com/office/drawing/2014/main" id="{E00ED827-7192-3140-788F-955036B82CA8}"/>
              </a:ext>
            </a:extLst>
          </p:cNvPr>
          <p:cNvPicPr>
            <a:picLocks noChangeAspect="1"/>
          </p:cNvPicPr>
          <p:nvPr/>
        </p:nvPicPr>
        <p:blipFill rotWithShape="1">
          <a:blip r:embed="rId3"/>
          <a:srcRect b="17265"/>
          <a:stretch/>
        </p:blipFill>
        <p:spPr>
          <a:xfrm>
            <a:off x="5803421" y="1291771"/>
            <a:ext cx="5702779" cy="4494080"/>
          </a:xfrm>
          <a:prstGeom prst="rect">
            <a:avLst/>
          </a:prstGeom>
        </p:spPr>
      </p:pic>
      <p:grpSp>
        <p:nvGrpSpPr>
          <p:cNvPr id="23" name="Group 22">
            <a:extLst>
              <a:ext uri="{FF2B5EF4-FFF2-40B4-BE49-F238E27FC236}">
                <a16:creationId xmlns:a16="http://schemas.microsoft.com/office/drawing/2014/main" id="{A067C78B-85E8-4F6D-8955-09EB55C8423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24" name="Group 23">
              <a:extLst>
                <a:ext uri="{FF2B5EF4-FFF2-40B4-BE49-F238E27FC236}">
                  <a16:creationId xmlns:a16="http://schemas.microsoft.com/office/drawing/2014/main" id="{8BB1DE1F-BC13-4674-9A74-6777A4E7629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26" name="Straight Connector 25">
                <a:extLst>
                  <a:ext uri="{FF2B5EF4-FFF2-40B4-BE49-F238E27FC236}">
                    <a16:creationId xmlns:a16="http://schemas.microsoft.com/office/drawing/2014/main" id="{917D1C5A-B237-41CC-AA7E-C10F94DB03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0D033FD-B77C-4E68-803F-CCEAABD96E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 name="Oval 24">
              <a:extLst>
                <a:ext uri="{FF2B5EF4-FFF2-40B4-BE49-F238E27FC236}">
                  <a16:creationId xmlns:a16="http://schemas.microsoft.com/office/drawing/2014/main" id="{7FA2F8D1-81EE-405E-8A4A-04A30DCE44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25609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BA43A-54F2-0416-34F7-16EDFAECE2D0}"/>
              </a:ext>
            </a:extLst>
          </p:cNvPr>
          <p:cNvSpPr>
            <a:spLocks noGrp="1"/>
          </p:cNvSpPr>
          <p:nvPr>
            <p:ph type="title"/>
          </p:nvPr>
        </p:nvSpPr>
        <p:spPr>
          <a:xfrm>
            <a:off x="1221475" y="1378857"/>
            <a:ext cx="4352008" cy="1175141"/>
          </a:xfrm>
        </p:spPr>
        <p:txBody>
          <a:bodyPr>
            <a:normAutofit/>
          </a:bodyPr>
          <a:lstStyle/>
          <a:p>
            <a:pPr>
              <a:lnSpc>
                <a:spcPct val="110000"/>
              </a:lnSpc>
            </a:pPr>
            <a:r>
              <a:rPr lang="tr-TR" sz="3100" dirty="0"/>
              <a:t>Simillar effect on the perceived moment</a:t>
            </a:r>
            <a:endParaRPr lang="en-US" sz="3100" dirty="0"/>
          </a:p>
        </p:txBody>
      </p:sp>
      <p:sp>
        <p:nvSpPr>
          <p:cNvPr id="3" name="Content Placeholder 2">
            <a:extLst>
              <a:ext uri="{FF2B5EF4-FFF2-40B4-BE49-F238E27FC236}">
                <a16:creationId xmlns:a16="http://schemas.microsoft.com/office/drawing/2014/main" id="{A48BFCDA-40C2-7790-F92D-6BA138F9F974}"/>
              </a:ext>
            </a:extLst>
          </p:cNvPr>
          <p:cNvSpPr>
            <a:spLocks noGrp="1"/>
          </p:cNvSpPr>
          <p:nvPr>
            <p:ph idx="1"/>
          </p:nvPr>
        </p:nvSpPr>
        <p:spPr>
          <a:xfrm>
            <a:off x="1221476" y="2961280"/>
            <a:ext cx="4352009" cy="3215682"/>
          </a:xfrm>
        </p:spPr>
        <p:txBody>
          <a:bodyPr>
            <a:normAutofit/>
          </a:bodyPr>
          <a:lstStyle/>
          <a:p>
            <a:r>
              <a:rPr lang="tr-TR" b="1" dirty="0"/>
              <a:t>Earlier</a:t>
            </a:r>
            <a:r>
              <a:rPr lang="en-US" dirty="0"/>
              <a:t> distractors caused the </a:t>
            </a:r>
            <a:r>
              <a:rPr lang="tr-TR" b="1" dirty="0"/>
              <a:t>target</a:t>
            </a:r>
            <a:r>
              <a:rPr lang="en-US" dirty="0"/>
              <a:t> to appear </a:t>
            </a:r>
            <a:r>
              <a:rPr lang="tr-TR" b="1" dirty="0"/>
              <a:t>earlier</a:t>
            </a:r>
          </a:p>
          <a:p>
            <a:r>
              <a:rPr lang="tr-TR" b="1" dirty="0"/>
              <a:t>Later</a:t>
            </a:r>
            <a:r>
              <a:rPr lang="tr-TR" dirty="0"/>
              <a:t> </a:t>
            </a:r>
            <a:r>
              <a:rPr lang="en-US" dirty="0"/>
              <a:t>distractors </a:t>
            </a:r>
            <a:r>
              <a:rPr lang="tr-TR" dirty="0"/>
              <a:t>caused to </a:t>
            </a:r>
            <a:r>
              <a:rPr lang="tr-TR" b="1" dirty="0"/>
              <a:t>later </a:t>
            </a:r>
            <a:r>
              <a:rPr lang="tr-TR" dirty="0"/>
              <a:t>perception of the </a:t>
            </a:r>
            <a:r>
              <a:rPr lang="tr-TR" b="1" dirty="0"/>
              <a:t>target event</a:t>
            </a:r>
          </a:p>
          <a:p>
            <a:r>
              <a:rPr lang="tr-TR" dirty="0"/>
              <a:t>This effect was consistent when the target was unknown</a:t>
            </a:r>
          </a:p>
          <a:p>
            <a:r>
              <a:rPr lang="tr-TR" b="1" dirty="0"/>
              <a:t>However</a:t>
            </a:r>
            <a:r>
              <a:rPr lang="tr-TR" dirty="0"/>
              <a:t> when the target color is </a:t>
            </a:r>
            <a:r>
              <a:rPr lang="tr-TR" b="1" dirty="0"/>
              <a:t>known</a:t>
            </a:r>
            <a:r>
              <a:rPr lang="tr-TR" dirty="0"/>
              <a:t> effect has changed</a:t>
            </a:r>
          </a:p>
        </p:txBody>
      </p:sp>
      <p:pic>
        <p:nvPicPr>
          <p:cNvPr id="6" name="Picture 5">
            <a:extLst>
              <a:ext uri="{FF2B5EF4-FFF2-40B4-BE49-F238E27FC236}">
                <a16:creationId xmlns:a16="http://schemas.microsoft.com/office/drawing/2014/main" id="{9159772A-8ED0-8B78-343D-51A977730487}"/>
              </a:ext>
            </a:extLst>
          </p:cNvPr>
          <p:cNvPicPr>
            <a:picLocks noChangeAspect="1"/>
          </p:cNvPicPr>
          <p:nvPr/>
        </p:nvPicPr>
        <p:blipFill rotWithShape="1">
          <a:blip r:embed="rId3"/>
          <a:srcRect b="26415"/>
          <a:stretch/>
        </p:blipFill>
        <p:spPr>
          <a:xfrm>
            <a:off x="6228441" y="484573"/>
            <a:ext cx="5849259" cy="3681027"/>
          </a:xfrm>
          <a:prstGeom prst="rect">
            <a:avLst/>
          </a:prstGeom>
        </p:spPr>
      </p:pic>
    </p:spTree>
    <p:extLst>
      <p:ext uri="{BB962C8B-B14F-4D97-AF65-F5344CB8AC3E}">
        <p14:creationId xmlns:p14="http://schemas.microsoft.com/office/powerpoint/2010/main" val="2651008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BA43A-54F2-0416-34F7-16EDFAECE2D0}"/>
              </a:ext>
            </a:extLst>
          </p:cNvPr>
          <p:cNvSpPr>
            <a:spLocks noGrp="1"/>
          </p:cNvSpPr>
          <p:nvPr>
            <p:ph type="title"/>
          </p:nvPr>
        </p:nvSpPr>
        <p:spPr>
          <a:xfrm>
            <a:off x="1221475" y="1378857"/>
            <a:ext cx="4352008" cy="1175141"/>
          </a:xfrm>
        </p:spPr>
        <p:txBody>
          <a:bodyPr>
            <a:normAutofit/>
          </a:bodyPr>
          <a:lstStyle/>
          <a:p>
            <a:pPr>
              <a:lnSpc>
                <a:spcPct val="110000"/>
              </a:lnSpc>
            </a:pPr>
            <a:r>
              <a:rPr lang="tr-TR" sz="3100" dirty="0"/>
              <a:t>Simillar effect on the perceived moment</a:t>
            </a:r>
            <a:endParaRPr lang="en-US" sz="3100" dirty="0"/>
          </a:p>
        </p:txBody>
      </p:sp>
      <p:sp>
        <p:nvSpPr>
          <p:cNvPr id="3" name="Content Placeholder 2">
            <a:extLst>
              <a:ext uri="{FF2B5EF4-FFF2-40B4-BE49-F238E27FC236}">
                <a16:creationId xmlns:a16="http://schemas.microsoft.com/office/drawing/2014/main" id="{A48BFCDA-40C2-7790-F92D-6BA138F9F974}"/>
              </a:ext>
            </a:extLst>
          </p:cNvPr>
          <p:cNvSpPr>
            <a:spLocks noGrp="1"/>
          </p:cNvSpPr>
          <p:nvPr>
            <p:ph idx="1"/>
          </p:nvPr>
        </p:nvSpPr>
        <p:spPr>
          <a:xfrm>
            <a:off x="1221476" y="2961280"/>
            <a:ext cx="4352009" cy="3215682"/>
          </a:xfrm>
        </p:spPr>
        <p:txBody>
          <a:bodyPr>
            <a:normAutofit/>
          </a:bodyPr>
          <a:lstStyle/>
          <a:p>
            <a:r>
              <a:rPr lang="tr-TR" b="1" dirty="0"/>
              <a:t>Earlier</a:t>
            </a:r>
            <a:r>
              <a:rPr lang="en-US" dirty="0"/>
              <a:t> distractors caused the </a:t>
            </a:r>
            <a:r>
              <a:rPr lang="tr-TR" b="1" dirty="0"/>
              <a:t>target</a:t>
            </a:r>
            <a:r>
              <a:rPr lang="en-US" dirty="0"/>
              <a:t> to appear </a:t>
            </a:r>
            <a:r>
              <a:rPr lang="tr-TR" b="1" dirty="0"/>
              <a:t>earlier</a:t>
            </a:r>
          </a:p>
          <a:p>
            <a:r>
              <a:rPr lang="tr-TR" b="1" dirty="0"/>
              <a:t>Later</a:t>
            </a:r>
            <a:r>
              <a:rPr lang="tr-TR" dirty="0"/>
              <a:t> </a:t>
            </a:r>
            <a:r>
              <a:rPr lang="en-US" dirty="0"/>
              <a:t>distractors </a:t>
            </a:r>
            <a:r>
              <a:rPr lang="tr-TR" dirty="0"/>
              <a:t>caused to </a:t>
            </a:r>
            <a:r>
              <a:rPr lang="tr-TR" b="1" dirty="0"/>
              <a:t>later </a:t>
            </a:r>
            <a:r>
              <a:rPr lang="tr-TR" dirty="0"/>
              <a:t>perception of the </a:t>
            </a:r>
            <a:r>
              <a:rPr lang="tr-TR" b="1" dirty="0"/>
              <a:t>target event</a:t>
            </a:r>
          </a:p>
          <a:p>
            <a:r>
              <a:rPr lang="tr-TR" dirty="0"/>
              <a:t>This effect was consistent when the target was unknown</a:t>
            </a:r>
          </a:p>
          <a:p>
            <a:r>
              <a:rPr lang="tr-TR" b="1" dirty="0"/>
              <a:t>However</a:t>
            </a:r>
            <a:r>
              <a:rPr lang="tr-TR" dirty="0"/>
              <a:t> when the target color is </a:t>
            </a:r>
            <a:r>
              <a:rPr lang="tr-TR" b="1" dirty="0"/>
              <a:t>known</a:t>
            </a:r>
            <a:r>
              <a:rPr lang="tr-TR" dirty="0"/>
              <a:t> effect has changed</a:t>
            </a:r>
          </a:p>
        </p:txBody>
      </p:sp>
      <p:pic>
        <p:nvPicPr>
          <p:cNvPr id="6" name="Picture 5">
            <a:extLst>
              <a:ext uri="{FF2B5EF4-FFF2-40B4-BE49-F238E27FC236}">
                <a16:creationId xmlns:a16="http://schemas.microsoft.com/office/drawing/2014/main" id="{9159772A-8ED0-8B78-343D-51A977730487}"/>
              </a:ext>
            </a:extLst>
          </p:cNvPr>
          <p:cNvPicPr>
            <a:picLocks noChangeAspect="1"/>
          </p:cNvPicPr>
          <p:nvPr/>
        </p:nvPicPr>
        <p:blipFill rotWithShape="1">
          <a:blip r:embed="rId3"/>
          <a:srcRect b="26415"/>
          <a:stretch/>
        </p:blipFill>
        <p:spPr>
          <a:xfrm>
            <a:off x="6228441" y="484573"/>
            <a:ext cx="5849259" cy="3681027"/>
          </a:xfrm>
          <a:prstGeom prst="rect">
            <a:avLst/>
          </a:prstGeom>
        </p:spPr>
      </p:pic>
      <p:pic>
        <p:nvPicPr>
          <p:cNvPr id="8" name="Picture 7">
            <a:extLst>
              <a:ext uri="{FF2B5EF4-FFF2-40B4-BE49-F238E27FC236}">
                <a16:creationId xmlns:a16="http://schemas.microsoft.com/office/drawing/2014/main" id="{595D49BF-E80D-95B3-C122-AEBACA4C039C}"/>
              </a:ext>
            </a:extLst>
          </p:cNvPr>
          <p:cNvPicPr>
            <a:picLocks noChangeAspect="1"/>
          </p:cNvPicPr>
          <p:nvPr/>
        </p:nvPicPr>
        <p:blipFill rotWithShape="1">
          <a:blip r:embed="rId4"/>
          <a:srcRect l="2393" r="5782"/>
          <a:stretch/>
        </p:blipFill>
        <p:spPr>
          <a:xfrm>
            <a:off x="6228441" y="4405888"/>
            <a:ext cx="5849259" cy="2191056"/>
          </a:xfrm>
          <a:prstGeom prst="rect">
            <a:avLst/>
          </a:prstGeom>
        </p:spPr>
      </p:pic>
    </p:spTree>
    <p:extLst>
      <p:ext uri="{BB962C8B-B14F-4D97-AF65-F5344CB8AC3E}">
        <p14:creationId xmlns:p14="http://schemas.microsoft.com/office/powerpoint/2010/main" val="380528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 name="Rectangle 8">
            <a:extLst>
              <a:ext uri="{FF2B5EF4-FFF2-40B4-BE49-F238E27FC236}">
                <a16:creationId xmlns:a16="http://schemas.microsoft.com/office/drawing/2014/main" id="{778ADDD7-451E-4D8A-B091-DF9D1DA7FA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51"/>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EF8996-CCC8-1862-7020-30C6358D7314}"/>
              </a:ext>
            </a:extLst>
          </p:cNvPr>
          <p:cNvSpPr>
            <a:spLocks noGrp="1"/>
          </p:cNvSpPr>
          <p:nvPr>
            <p:ph type="title"/>
          </p:nvPr>
        </p:nvSpPr>
        <p:spPr>
          <a:xfrm>
            <a:off x="1219200" y="365125"/>
            <a:ext cx="10287000" cy="1577975"/>
          </a:xfrm>
        </p:spPr>
        <p:txBody>
          <a:bodyPr>
            <a:normAutofit/>
          </a:bodyPr>
          <a:lstStyle/>
          <a:p>
            <a:pPr algn="r"/>
            <a:r>
              <a:rPr lang="tr-TR"/>
              <a:t>Expectation and Perceived Time of Events in the Presence of Distractor</a:t>
            </a:r>
            <a:endParaRPr lang="en-US"/>
          </a:p>
        </p:txBody>
      </p:sp>
      <p:grpSp>
        <p:nvGrpSpPr>
          <p:cNvPr id="23" name="Group 10">
            <a:extLst>
              <a:ext uri="{FF2B5EF4-FFF2-40B4-BE49-F238E27FC236}">
                <a16:creationId xmlns:a16="http://schemas.microsoft.com/office/drawing/2014/main" id="{8D28B75D-FF2D-4259-8FEF-7E43E96EF5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12" name="Group 11">
              <a:extLst>
                <a:ext uri="{FF2B5EF4-FFF2-40B4-BE49-F238E27FC236}">
                  <a16:creationId xmlns:a16="http://schemas.microsoft.com/office/drawing/2014/main" id="{A157B0EB-3C49-4951-8A79-2615FAF1022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14" name="Straight Connector 13">
                <a:extLst>
                  <a:ext uri="{FF2B5EF4-FFF2-40B4-BE49-F238E27FC236}">
                    <a16:creationId xmlns:a16="http://schemas.microsoft.com/office/drawing/2014/main" id="{296BC311-C2BC-46AD-9579-26E325F0EC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6CC86E5-AAA0-4A37-8DA3-E8663A9670C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Oval 12">
              <a:extLst>
                <a:ext uri="{FF2B5EF4-FFF2-40B4-BE49-F238E27FC236}">
                  <a16:creationId xmlns:a16="http://schemas.microsoft.com/office/drawing/2014/main" id="{76AF8311-D179-4BC3-B716-C20F2B417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4" name="Content Placeholder 2">
            <a:extLst>
              <a:ext uri="{FF2B5EF4-FFF2-40B4-BE49-F238E27FC236}">
                <a16:creationId xmlns:a16="http://schemas.microsoft.com/office/drawing/2014/main" id="{1E7E4CAB-A2F9-A531-18CD-DC1D00967CD8}"/>
              </a:ext>
            </a:extLst>
          </p:cNvPr>
          <p:cNvGraphicFramePr>
            <a:graphicFrameLocks noGrp="1"/>
          </p:cNvGraphicFramePr>
          <p:nvPr>
            <p:ph idx="1"/>
            <p:extLst>
              <p:ext uri="{D42A27DB-BD31-4B8C-83A1-F6EECF244321}">
                <p14:modId xmlns:p14="http://schemas.microsoft.com/office/powerpoint/2010/main" val="2095819576"/>
              </p:ext>
            </p:extLst>
          </p:nvPr>
        </p:nvGraphicFramePr>
        <p:xfrm>
          <a:off x="1219200" y="2495908"/>
          <a:ext cx="9770853" cy="36762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0" name="Group 9">
            <a:extLst>
              <a:ext uri="{FF2B5EF4-FFF2-40B4-BE49-F238E27FC236}">
                <a16:creationId xmlns:a16="http://schemas.microsoft.com/office/drawing/2014/main" id="{F3BC3677-5395-8E2C-52E1-4C56E5F2FC05}"/>
              </a:ext>
            </a:extLst>
          </p:cNvPr>
          <p:cNvGrpSpPr/>
          <p:nvPr/>
        </p:nvGrpSpPr>
        <p:grpSpPr>
          <a:xfrm>
            <a:off x="1201947" y="4871053"/>
            <a:ext cx="2905596" cy="770859"/>
            <a:chOff x="3427848" y="2055199"/>
            <a:chExt cx="2915156" cy="770859"/>
          </a:xfrm>
        </p:grpSpPr>
        <p:sp>
          <p:nvSpPr>
            <p:cNvPr id="16" name="Rectangle 15">
              <a:extLst>
                <a:ext uri="{FF2B5EF4-FFF2-40B4-BE49-F238E27FC236}">
                  <a16:creationId xmlns:a16="http://schemas.microsoft.com/office/drawing/2014/main" id="{A2EF6E5A-0AF7-059E-C783-649F8BC15C57}"/>
                </a:ext>
              </a:extLst>
            </p:cNvPr>
            <p:cNvSpPr/>
            <p:nvPr/>
          </p:nvSpPr>
          <p:spPr>
            <a:xfrm>
              <a:off x="3427848" y="2432287"/>
              <a:ext cx="2915156" cy="39377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1" name="TextBox 20">
              <a:extLst>
                <a:ext uri="{FF2B5EF4-FFF2-40B4-BE49-F238E27FC236}">
                  <a16:creationId xmlns:a16="http://schemas.microsoft.com/office/drawing/2014/main" id="{10EE006F-7D2F-D18F-1206-DA41A95ACCD9}"/>
                </a:ext>
              </a:extLst>
            </p:cNvPr>
            <p:cNvSpPr txBox="1"/>
            <p:nvPr/>
          </p:nvSpPr>
          <p:spPr>
            <a:xfrm>
              <a:off x="3802874" y="2055199"/>
              <a:ext cx="2165103" cy="57397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533400">
                <a:lnSpc>
                  <a:spcPct val="150000"/>
                </a:lnSpc>
                <a:spcBef>
                  <a:spcPct val="0"/>
                </a:spcBef>
                <a:spcAft>
                  <a:spcPct val="35000"/>
                </a:spcAft>
                <a:buNone/>
              </a:pPr>
              <a:r>
                <a:rPr lang="en-US" sz="1200" kern="1200" dirty="0"/>
                <a:t>Changed ratio of target/distractor color</a:t>
              </a:r>
            </a:p>
          </p:txBody>
        </p:sp>
      </p:grpSp>
    </p:spTree>
    <p:extLst>
      <p:ext uri="{BB962C8B-B14F-4D97-AF65-F5344CB8AC3E}">
        <p14:creationId xmlns:p14="http://schemas.microsoft.com/office/powerpoint/2010/main" val="110356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2" name="Group 47">
            <a:extLst>
              <a:ext uri="{FF2B5EF4-FFF2-40B4-BE49-F238E27FC236}">
                <a16:creationId xmlns:a16="http://schemas.microsoft.com/office/drawing/2014/main" id="{23F5135F-115E-423C-BE4A-B56C35DC9F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49" name="Group 48">
              <a:extLst>
                <a:ext uri="{FF2B5EF4-FFF2-40B4-BE49-F238E27FC236}">
                  <a16:creationId xmlns:a16="http://schemas.microsoft.com/office/drawing/2014/main" id="{82C1E318-0F1F-4920-8C7D-FBAC66631B5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51" name="Straight Connector 50">
                <a:extLst>
                  <a:ext uri="{FF2B5EF4-FFF2-40B4-BE49-F238E27FC236}">
                    <a16:creationId xmlns:a16="http://schemas.microsoft.com/office/drawing/2014/main" id="{DE4A7237-B6EB-4FB7-8B68-7C27438D47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4E00FDE-0838-4B5B-A782-6B6C92DB0A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3" name="Oval 49">
              <a:extLst>
                <a:ext uri="{FF2B5EF4-FFF2-40B4-BE49-F238E27FC236}">
                  <a16:creationId xmlns:a16="http://schemas.microsoft.com/office/drawing/2014/main" id="{2BC1B2F3-8E83-4A70-B103-979C67EECE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64" name="Rectangle 53">
            <a:extLst>
              <a:ext uri="{FF2B5EF4-FFF2-40B4-BE49-F238E27FC236}">
                <a16:creationId xmlns:a16="http://schemas.microsoft.com/office/drawing/2014/main" id="{0D62E216-74AA-4F99-82B7-C38E49015B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7E41704D-8209-E833-74C3-9F89311BCA6B}"/>
              </a:ext>
            </a:extLst>
          </p:cNvPr>
          <p:cNvSpPr>
            <a:spLocks noGrp="1"/>
          </p:cNvSpPr>
          <p:nvPr>
            <p:ph type="title"/>
          </p:nvPr>
        </p:nvSpPr>
        <p:spPr>
          <a:xfrm>
            <a:off x="685800" y="445674"/>
            <a:ext cx="10310906" cy="910985"/>
          </a:xfrm>
        </p:spPr>
        <p:txBody>
          <a:bodyPr vert="horz" lIns="91440" tIns="45720" rIns="91440" bIns="45720" rtlCol="0" anchor="b">
            <a:normAutofit/>
          </a:bodyPr>
          <a:lstStyle/>
          <a:p>
            <a:r>
              <a:rPr lang="en-US"/>
              <a:t>Method</a:t>
            </a:r>
            <a:endParaRPr lang="en-US" dirty="0"/>
          </a:p>
        </p:txBody>
      </p:sp>
      <p:pic>
        <p:nvPicPr>
          <p:cNvPr id="17" name="Picture 16" descr="Graphical user interface, application&#10;&#10;Description automatically generated">
            <a:extLst>
              <a:ext uri="{FF2B5EF4-FFF2-40B4-BE49-F238E27FC236}">
                <a16:creationId xmlns:a16="http://schemas.microsoft.com/office/drawing/2014/main" id="{E2CDA2C4-5548-9F79-0751-08F60A9A0C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644" y="2225428"/>
            <a:ext cx="13187540" cy="3890326"/>
          </a:xfrm>
          <a:prstGeom prst="rect">
            <a:avLst/>
          </a:prstGeom>
        </p:spPr>
      </p:pic>
      <p:grpSp>
        <p:nvGrpSpPr>
          <p:cNvPr id="65" name="Group 55">
            <a:extLst>
              <a:ext uri="{FF2B5EF4-FFF2-40B4-BE49-F238E27FC236}">
                <a16:creationId xmlns:a16="http://schemas.microsoft.com/office/drawing/2014/main" id="{7C95EB0F-1AE5-42F7-B7F0-B831CF0EDF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57" name="Group 56">
              <a:extLst>
                <a:ext uri="{FF2B5EF4-FFF2-40B4-BE49-F238E27FC236}">
                  <a16:creationId xmlns:a16="http://schemas.microsoft.com/office/drawing/2014/main" id="{A8E8F657-C3DF-4EC0-A179-6C86B2A61F9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59" name="Straight Connector 58">
                <a:extLst>
                  <a:ext uri="{FF2B5EF4-FFF2-40B4-BE49-F238E27FC236}">
                    <a16:creationId xmlns:a16="http://schemas.microsoft.com/office/drawing/2014/main" id="{78ED442E-BBA1-4900-842D-3A5C2384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1D8E0BF-7F84-4E82-BADE-A2099746255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6" name="Oval 57">
              <a:extLst>
                <a:ext uri="{FF2B5EF4-FFF2-40B4-BE49-F238E27FC236}">
                  <a16:creationId xmlns:a16="http://schemas.microsoft.com/office/drawing/2014/main" id="{924C8AE5-AC43-4233-89F5-86718C76C0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909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6AD51EB-971C-4722-9A98-42EB5ABCA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653309-15E7-1B08-6DC3-FD48B1FDD1C5}"/>
              </a:ext>
            </a:extLst>
          </p:cNvPr>
          <p:cNvSpPr>
            <a:spLocks noGrp="1"/>
          </p:cNvSpPr>
          <p:nvPr>
            <p:ph type="title"/>
          </p:nvPr>
        </p:nvSpPr>
        <p:spPr>
          <a:xfrm>
            <a:off x="0" y="0"/>
            <a:ext cx="4023624" cy="1594442"/>
          </a:xfrm>
        </p:spPr>
        <p:txBody>
          <a:bodyPr>
            <a:normAutofit/>
          </a:bodyPr>
          <a:lstStyle/>
          <a:p>
            <a:r>
              <a:rPr lang="tr-TR" dirty="0"/>
              <a:t>Familiarization with time</a:t>
            </a:r>
            <a:endParaRPr lang="en-US" dirty="0"/>
          </a:p>
        </p:txBody>
      </p:sp>
      <p:pic>
        <p:nvPicPr>
          <p:cNvPr id="7" name="Content Placeholder 6" descr="A picture containing diagram&#10;&#10;Description automatically generated">
            <a:extLst>
              <a:ext uri="{FF2B5EF4-FFF2-40B4-BE49-F238E27FC236}">
                <a16:creationId xmlns:a16="http://schemas.microsoft.com/office/drawing/2014/main" id="{37F2D7AF-0F79-4C2B-6C24-F92A2C5D4119}"/>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1016861" y="1849149"/>
            <a:ext cx="4577758" cy="4074205"/>
          </a:xfrm>
          <a:prstGeom prst="rect">
            <a:avLst/>
          </a:prstGeom>
        </p:spPr>
      </p:pic>
      <p:grpSp>
        <p:nvGrpSpPr>
          <p:cNvPr id="27" name="Group 26">
            <a:extLst>
              <a:ext uri="{FF2B5EF4-FFF2-40B4-BE49-F238E27FC236}">
                <a16:creationId xmlns:a16="http://schemas.microsoft.com/office/drawing/2014/main" id="{A067C78B-85E8-4F6D-8955-09EB55C8423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28" name="Group 27">
              <a:extLst>
                <a:ext uri="{FF2B5EF4-FFF2-40B4-BE49-F238E27FC236}">
                  <a16:creationId xmlns:a16="http://schemas.microsoft.com/office/drawing/2014/main" id="{8BB1DE1F-BC13-4674-9A74-6777A4E7629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30" name="Straight Connector 29">
                <a:extLst>
                  <a:ext uri="{FF2B5EF4-FFF2-40B4-BE49-F238E27FC236}">
                    <a16:creationId xmlns:a16="http://schemas.microsoft.com/office/drawing/2014/main" id="{917D1C5A-B237-41CC-AA7E-C10F94DB03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0D033FD-B77C-4E68-803F-CCEAABD96E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Oval 28">
              <a:extLst>
                <a:ext uri="{FF2B5EF4-FFF2-40B4-BE49-F238E27FC236}">
                  <a16:creationId xmlns:a16="http://schemas.microsoft.com/office/drawing/2014/main" id="{7FA2F8D1-81EE-405E-8A4A-04A30DCE44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892766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23F5135F-115E-423C-BE4A-B56C35DC9F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34" name="Group 33">
              <a:extLst>
                <a:ext uri="{FF2B5EF4-FFF2-40B4-BE49-F238E27FC236}">
                  <a16:creationId xmlns:a16="http://schemas.microsoft.com/office/drawing/2014/main" id="{82C1E318-0F1F-4920-8C7D-FBAC66631B5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36" name="Straight Connector 35">
                <a:extLst>
                  <a:ext uri="{FF2B5EF4-FFF2-40B4-BE49-F238E27FC236}">
                    <a16:creationId xmlns:a16="http://schemas.microsoft.com/office/drawing/2014/main" id="{DE4A7237-B6EB-4FB7-8B68-7C27438D47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4E00FDE-0838-4B5B-A782-6B6C92DB0A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5" name="Oval 34">
              <a:extLst>
                <a:ext uri="{FF2B5EF4-FFF2-40B4-BE49-F238E27FC236}">
                  <a16:creationId xmlns:a16="http://schemas.microsoft.com/office/drawing/2014/main" id="{2BC1B2F3-8E83-4A70-B103-979C67EECE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39" name="Rectangle 38">
            <a:extLst>
              <a:ext uri="{FF2B5EF4-FFF2-40B4-BE49-F238E27FC236}">
                <a16:creationId xmlns:a16="http://schemas.microsoft.com/office/drawing/2014/main" id="{F341B9C2-0FBF-4B4B-A902-1AFFD384E7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BD5E93-9820-5EEA-FE3F-651A37E49AF0}"/>
              </a:ext>
            </a:extLst>
          </p:cNvPr>
          <p:cNvSpPr>
            <a:spLocks noGrp="1"/>
          </p:cNvSpPr>
          <p:nvPr>
            <p:ph type="title"/>
          </p:nvPr>
        </p:nvSpPr>
        <p:spPr>
          <a:xfrm>
            <a:off x="1659894" y="4461339"/>
            <a:ext cx="9846306" cy="1296229"/>
          </a:xfrm>
        </p:spPr>
        <p:txBody>
          <a:bodyPr vert="horz" lIns="91440" tIns="45720" rIns="91440" bIns="45720" rtlCol="0" anchor="b">
            <a:normAutofit/>
          </a:bodyPr>
          <a:lstStyle/>
          <a:p>
            <a:pPr algn="r"/>
            <a:r>
              <a:rPr lang="en-US" sz="5400"/>
              <a:t>Procedure</a:t>
            </a:r>
          </a:p>
        </p:txBody>
      </p:sp>
      <p:grpSp>
        <p:nvGrpSpPr>
          <p:cNvPr id="41" name="Group 40">
            <a:extLst>
              <a:ext uri="{FF2B5EF4-FFF2-40B4-BE49-F238E27FC236}">
                <a16:creationId xmlns:a16="http://schemas.microsoft.com/office/drawing/2014/main" id="{148C62AE-4335-48B4-936F-B2E13421D6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42" name="Group 41">
              <a:extLst>
                <a:ext uri="{FF2B5EF4-FFF2-40B4-BE49-F238E27FC236}">
                  <a16:creationId xmlns:a16="http://schemas.microsoft.com/office/drawing/2014/main" id="{ACC2589D-7B3B-4D4C-B2B8-CACDB922842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44" name="Straight Connector 43">
                <a:extLst>
                  <a:ext uri="{FF2B5EF4-FFF2-40B4-BE49-F238E27FC236}">
                    <a16:creationId xmlns:a16="http://schemas.microsoft.com/office/drawing/2014/main" id="{7F6A6C86-32D6-4F90-8B6E-1BB32248C8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9D77B3C-D4B6-4916-9D5B-AE2F0AAD685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3" name="Oval 42">
              <a:extLst>
                <a:ext uri="{FF2B5EF4-FFF2-40B4-BE49-F238E27FC236}">
                  <a16:creationId xmlns:a16="http://schemas.microsoft.com/office/drawing/2014/main" id="{04E4D58F-10CF-48E1-9D0C-6BB0822DF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Picture 29">
            <a:extLst>
              <a:ext uri="{FF2B5EF4-FFF2-40B4-BE49-F238E27FC236}">
                <a16:creationId xmlns:a16="http://schemas.microsoft.com/office/drawing/2014/main" id="{F016725C-3DEE-AAED-738D-DFF83F68EA04}"/>
              </a:ext>
            </a:extLst>
          </p:cNvPr>
          <p:cNvPicPr>
            <a:picLocks noChangeAspect="1"/>
          </p:cNvPicPr>
          <p:nvPr/>
        </p:nvPicPr>
        <p:blipFill>
          <a:blip r:embed="rId2"/>
          <a:stretch>
            <a:fillRect/>
          </a:stretch>
        </p:blipFill>
        <p:spPr>
          <a:xfrm>
            <a:off x="113359" y="65374"/>
            <a:ext cx="5921564" cy="6691849"/>
          </a:xfrm>
          <a:prstGeom prst="rect">
            <a:avLst/>
          </a:prstGeom>
        </p:spPr>
      </p:pic>
      <p:pic>
        <p:nvPicPr>
          <p:cNvPr id="32" name="Picture 31">
            <a:extLst>
              <a:ext uri="{FF2B5EF4-FFF2-40B4-BE49-F238E27FC236}">
                <a16:creationId xmlns:a16="http://schemas.microsoft.com/office/drawing/2014/main" id="{0C1C029F-BF05-1558-D38E-4C6EB13D61CB}"/>
              </a:ext>
            </a:extLst>
          </p:cNvPr>
          <p:cNvPicPr>
            <a:picLocks noChangeAspect="1"/>
          </p:cNvPicPr>
          <p:nvPr/>
        </p:nvPicPr>
        <p:blipFill rotWithShape="1">
          <a:blip r:embed="rId3"/>
          <a:srcRect r="1324"/>
          <a:stretch/>
        </p:blipFill>
        <p:spPr>
          <a:xfrm>
            <a:off x="4892306" y="2497438"/>
            <a:ext cx="7186335" cy="1963901"/>
          </a:xfrm>
          <a:prstGeom prst="rect">
            <a:avLst/>
          </a:prstGeom>
        </p:spPr>
      </p:pic>
    </p:spTree>
    <p:extLst>
      <p:ext uri="{BB962C8B-B14F-4D97-AF65-F5344CB8AC3E}">
        <p14:creationId xmlns:p14="http://schemas.microsoft.com/office/powerpoint/2010/main" val="2451633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3F5135F-115E-423C-BE4A-B56C35DC9F3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10" name="Group 9">
              <a:extLst>
                <a:ext uri="{FF2B5EF4-FFF2-40B4-BE49-F238E27FC236}">
                  <a16:creationId xmlns:a16="http://schemas.microsoft.com/office/drawing/2014/main" id="{82C1E318-0F1F-4920-8C7D-FBAC66631B5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12" name="Straight Connector 11">
                <a:extLst>
                  <a:ext uri="{FF2B5EF4-FFF2-40B4-BE49-F238E27FC236}">
                    <a16:creationId xmlns:a16="http://schemas.microsoft.com/office/drawing/2014/main" id="{DE4A7237-B6EB-4FB7-8B68-7C27438D47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4E00FDE-0838-4B5B-A782-6B6C92DB0A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2BC1B2F3-8E83-4A70-B103-979C67EECE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15" name="Rectangle 14">
            <a:extLst>
              <a:ext uri="{FF2B5EF4-FFF2-40B4-BE49-F238E27FC236}">
                <a16:creationId xmlns:a16="http://schemas.microsoft.com/office/drawing/2014/main" id="{45D307FA-6EBE-462C-99A2-25512D13E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EAF34AB-AE16-45B5-ABC1-801F06223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dpi="0" rotWithShape="1">
            <a:blip r:embed="rId2"/>
            <a:srcRect/>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ush pins laying down with one standing up">
            <a:extLst>
              <a:ext uri="{FF2B5EF4-FFF2-40B4-BE49-F238E27FC236}">
                <a16:creationId xmlns:a16="http://schemas.microsoft.com/office/drawing/2014/main" id="{9C3270F8-C21A-2B81-40AE-C7F545BE4EE2}"/>
              </a:ext>
            </a:extLst>
          </p:cNvPr>
          <p:cNvPicPr>
            <a:picLocks noChangeAspect="1"/>
          </p:cNvPicPr>
          <p:nvPr/>
        </p:nvPicPr>
        <p:blipFill rotWithShape="1">
          <a:blip r:embed="rId3">
            <a:alphaModFix amt="84000"/>
          </a:blip>
          <a:srcRect t="6250"/>
          <a:stretch/>
        </p:blipFill>
        <p:spPr>
          <a:xfrm>
            <a:off x="20" y="10"/>
            <a:ext cx="12191980" cy="6857990"/>
          </a:xfrm>
          <a:prstGeom prst="rect">
            <a:avLst/>
          </a:prstGeom>
        </p:spPr>
      </p:pic>
      <p:sp>
        <p:nvSpPr>
          <p:cNvPr id="19" name="Rectangle 18">
            <a:extLst>
              <a:ext uri="{FF2B5EF4-FFF2-40B4-BE49-F238E27FC236}">
                <a16:creationId xmlns:a16="http://schemas.microsoft.com/office/drawing/2014/main" id="{7B20F68C-33F0-439B-8625-CDC2BA6761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29944" y="729943"/>
            <a:ext cx="6858000" cy="5398113"/>
          </a:xfrm>
          <a:prstGeom prst="rect">
            <a:avLst/>
          </a:prstGeom>
          <a:gradFill flip="none" rotWithShape="1">
            <a:gsLst>
              <a:gs pos="0">
                <a:srgbClr val="000000">
                  <a:alpha val="35000"/>
                </a:srgbClr>
              </a:gs>
              <a:gs pos="100000">
                <a:srgbClr val="000000">
                  <a:alpha val="0"/>
                </a:srgbClr>
              </a:gs>
              <a:gs pos="37000">
                <a:srgbClr val="000000">
                  <a:alpha val="2000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2D4D0B7-7B03-7EC8-B12B-4C18BCFBDF0A}"/>
              </a:ext>
            </a:extLst>
          </p:cNvPr>
          <p:cNvSpPr>
            <a:spLocks noGrp="1"/>
          </p:cNvSpPr>
          <p:nvPr>
            <p:ph type="title"/>
          </p:nvPr>
        </p:nvSpPr>
        <p:spPr>
          <a:xfrm>
            <a:off x="842356" y="853440"/>
            <a:ext cx="4063873" cy="1569719"/>
          </a:xfrm>
        </p:spPr>
        <p:txBody>
          <a:bodyPr vert="horz" lIns="91440" tIns="45720" rIns="91440" bIns="45720" rtlCol="0" anchor="t">
            <a:normAutofit/>
          </a:bodyPr>
          <a:lstStyle/>
          <a:p>
            <a:r>
              <a:rPr lang="en-US" sz="3200" i="1" kern="1200" dirty="0">
                <a:solidFill>
                  <a:srgbClr val="000000"/>
                </a:solidFill>
                <a:highlight>
                  <a:srgbClr val="FFFF00"/>
                </a:highlight>
                <a:latin typeface="+mj-lt"/>
                <a:ea typeface="+mj-ea"/>
                <a:cs typeface="+mj-cs"/>
              </a:rPr>
              <a:t>Predictions</a:t>
            </a:r>
          </a:p>
        </p:txBody>
      </p:sp>
      <p:grpSp>
        <p:nvGrpSpPr>
          <p:cNvPr id="21" name="Group 20">
            <a:extLst>
              <a:ext uri="{FF2B5EF4-FFF2-40B4-BE49-F238E27FC236}">
                <a16:creationId xmlns:a16="http://schemas.microsoft.com/office/drawing/2014/main" id="{EA453187-2CF0-46A9-AA9B-8918BA68D0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22" name="Group 21">
              <a:extLst>
                <a:ext uri="{FF2B5EF4-FFF2-40B4-BE49-F238E27FC236}">
                  <a16:creationId xmlns:a16="http://schemas.microsoft.com/office/drawing/2014/main" id="{16B33614-B2DD-490C-BEA3-564129B6AA4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24" name="Straight Connector 23">
                <a:extLst>
                  <a:ext uri="{FF2B5EF4-FFF2-40B4-BE49-F238E27FC236}">
                    <a16:creationId xmlns:a16="http://schemas.microsoft.com/office/drawing/2014/main" id="{BA8B0DBA-6761-4CDC-8B71-C1594FC5B0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1A15258-2360-45C1-8DBA-ACD6A10026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rgbClr val="FFFFFF"/>
                </a:solidFill>
              </a:ln>
            </p:spPr>
            <p:style>
              <a:lnRef idx="1">
                <a:schemeClr val="accent1"/>
              </a:lnRef>
              <a:fillRef idx="0">
                <a:schemeClr val="accent1"/>
              </a:fillRef>
              <a:effectRef idx="0">
                <a:schemeClr val="accent1"/>
              </a:effectRef>
              <a:fontRef idx="minor">
                <a:schemeClr val="tx1"/>
              </a:fontRef>
            </p:style>
          </p:cxnSp>
        </p:grpSp>
        <p:sp>
          <p:nvSpPr>
            <p:cNvPr id="23" name="Oval 22">
              <a:extLst>
                <a:ext uri="{FF2B5EF4-FFF2-40B4-BE49-F238E27FC236}">
                  <a16:creationId xmlns:a16="http://schemas.microsoft.com/office/drawing/2014/main" id="{0AE5B18B-E1A6-4A04-86B9-294AC2BCFE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55141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0E5FD-B79E-3B80-9D0E-7D924A418069}"/>
              </a:ext>
            </a:extLst>
          </p:cNvPr>
          <p:cNvSpPr>
            <a:spLocks noGrp="1"/>
          </p:cNvSpPr>
          <p:nvPr>
            <p:ph type="title"/>
          </p:nvPr>
        </p:nvSpPr>
        <p:spPr/>
        <p:txBody>
          <a:bodyPr/>
          <a:lstStyle/>
          <a:p>
            <a:r>
              <a:rPr lang="en-US" dirty="0"/>
              <a:t>Equation for Perceived Time</a:t>
            </a:r>
          </a:p>
        </p:txBody>
      </p:sp>
      <p:sp>
        <p:nvSpPr>
          <p:cNvPr id="3" name="Content Placeholder 2">
            <a:extLst>
              <a:ext uri="{FF2B5EF4-FFF2-40B4-BE49-F238E27FC236}">
                <a16:creationId xmlns:a16="http://schemas.microsoft.com/office/drawing/2014/main" id="{CA97EDAE-AEAD-54F8-8EE5-9E32ADF0220A}"/>
              </a:ext>
            </a:extLst>
          </p:cNvPr>
          <p:cNvSpPr>
            <a:spLocks noGrp="1"/>
          </p:cNvSpPr>
          <p:nvPr>
            <p:ph idx="1"/>
          </p:nvPr>
        </p:nvSpPr>
        <p:spPr/>
        <p:txBody>
          <a:bodyPr/>
          <a:lstStyle/>
          <a:p>
            <a:pPr marL="342900" indent="-342900">
              <a:buFont typeface="+mj-lt"/>
              <a:buAutoNum type="arabicPeriod"/>
            </a:pPr>
            <a:r>
              <a:rPr lang="en-US" b="1" dirty="0"/>
              <a:t>No expectation </a:t>
            </a:r>
            <a:endParaRPr lang="tr-TR" b="1" dirty="0"/>
          </a:p>
          <a:p>
            <a:pPr marL="571500" lvl="1" indent="-342900">
              <a:buFont typeface="+mj-lt"/>
              <a:buAutoNum type="arabicPeriod"/>
            </a:pPr>
            <a:r>
              <a:rPr lang="en-US" dirty="0">
                <a:effectLst/>
              </a:rPr>
              <a:t>If the temporal error was totally linear</a:t>
            </a:r>
            <a:r>
              <a:rPr lang="tr-TR" dirty="0">
                <a:effectLst/>
              </a:rPr>
              <a:t>ly effected by the distractors time</a:t>
            </a:r>
            <a:r>
              <a:rPr lang="en-US" dirty="0">
                <a:effectLst/>
              </a:rPr>
              <a:t>:</a:t>
            </a:r>
            <a:endParaRPr lang="tr-TR" dirty="0">
              <a:effectLst/>
            </a:endParaRPr>
          </a:p>
          <a:p>
            <a:pPr marL="571500" lvl="1" indent="-342900">
              <a:buFont typeface="+mj-lt"/>
              <a:buAutoNum type="arabicPeriod"/>
            </a:pPr>
            <a:endParaRPr lang="tr-TR" dirty="0"/>
          </a:p>
          <a:p>
            <a:pPr marL="571500" lvl="1" indent="-342900">
              <a:buFont typeface="+mj-lt"/>
              <a:buAutoNum type="arabicPeriod"/>
            </a:pPr>
            <a:endParaRPr lang="tr-TR" dirty="0"/>
          </a:p>
          <a:p>
            <a:pPr marL="571500" lvl="1" indent="-342900">
              <a:buFont typeface="+mj-lt"/>
              <a:buAutoNum type="arabicPeriod"/>
            </a:pPr>
            <a:endParaRPr lang="tr-TR" dirty="0"/>
          </a:p>
          <a:p>
            <a:pPr marL="571500" lvl="1" indent="-342900">
              <a:buFont typeface="+mj-lt"/>
              <a:buAutoNum type="arabicPeriod"/>
            </a:pPr>
            <a:endParaRPr lang="tr-TR" dirty="0"/>
          </a:p>
        </p:txBody>
      </p:sp>
      <p:pic>
        <p:nvPicPr>
          <p:cNvPr id="7" name="Picture 6">
            <a:extLst>
              <a:ext uri="{FF2B5EF4-FFF2-40B4-BE49-F238E27FC236}">
                <a16:creationId xmlns:a16="http://schemas.microsoft.com/office/drawing/2014/main" id="{02E0D4A5-F1DD-1C7B-F56D-9A16A4A7486C}"/>
              </a:ext>
            </a:extLst>
          </p:cNvPr>
          <p:cNvPicPr>
            <a:picLocks noChangeAspect="1"/>
          </p:cNvPicPr>
          <p:nvPr/>
        </p:nvPicPr>
        <p:blipFill>
          <a:blip r:embed="rId3"/>
          <a:stretch>
            <a:fillRect/>
          </a:stretch>
        </p:blipFill>
        <p:spPr>
          <a:xfrm>
            <a:off x="4371856" y="3429000"/>
            <a:ext cx="2620865" cy="750922"/>
          </a:xfrm>
          <a:prstGeom prst="rect">
            <a:avLst/>
          </a:prstGeom>
        </p:spPr>
      </p:pic>
    </p:spTree>
    <p:extLst>
      <p:ext uri="{BB962C8B-B14F-4D97-AF65-F5344CB8AC3E}">
        <p14:creationId xmlns:p14="http://schemas.microsoft.com/office/powerpoint/2010/main" val="1687197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0E5FD-B79E-3B80-9D0E-7D924A418069}"/>
              </a:ext>
            </a:extLst>
          </p:cNvPr>
          <p:cNvSpPr>
            <a:spLocks noGrp="1"/>
          </p:cNvSpPr>
          <p:nvPr>
            <p:ph type="title"/>
          </p:nvPr>
        </p:nvSpPr>
        <p:spPr>
          <a:xfrm>
            <a:off x="1219200" y="365126"/>
            <a:ext cx="9493249" cy="842352"/>
          </a:xfrm>
        </p:spPr>
        <p:txBody>
          <a:bodyPr/>
          <a:lstStyle/>
          <a:p>
            <a:r>
              <a:rPr lang="en-US" dirty="0"/>
              <a:t>Equation for Perceived Time</a:t>
            </a:r>
          </a:p>
        </p:txBody>
      </p:sp>
      <p:sp>
        <p:nvSpPr>
          <p:cNvPr id="3" name="Content Placeholder 2">
            <a:extLst>
              <a:ext uri="{FF2B5EF4-FFF2-40B4-BE49-F238E27FC236}">
                <a16:creationId xmlns:a16="http://schemas.microsoft.com/office/drawing/2014/main" id="{CA97EDAE-AEAD-54F8-8EE5-9E32ADF0220A}"/>
              </a:ext>
            </a:extLst>
          </p:cNvPr>
          <p:cNvSpPr>
            <a:spLocks noGrp="1"/>
          </p:cNvSpPr>
          <p:nvPr>
            <p:ph idx="1"/>
          </p:nvPr>
        </p:nvSpPr>
        <p:spPr>
          <a:xfrm>
            <a:off x="1219200" y="1441515"/>
            <a:ext cx="9493250" cy="3854167"/>
          </a:xfrm>
        </p:spPr>
        <p:txBody>
          <a:bodyPr/>
          <a:lstStyle/>
          <a:p>
            <a:pPr marL="342900" indent="-342900">
              <a:buFont typeface="+mj-lt"/>
              <a:buAutoNum type="arabicPeriod"/>
            </a:pPr>
            <a:r>
              <a:rPr lang="en-US" b="1" dirty="0"/>
              <a:t>No expectation</a:t>
            </a:r>
            <a:endParaRPr lang="tr-TR" b="1" dirty="0"/>
          </a:p>
          <a:p>
            <a:pPr marL="571500" lvl="1" indent="-342900">
              <a:buFont typeface="+mj-lt"/>
              <a:buAutoNum type="arabicPeriod"/>
            </a:pPr>
            <a:r>
              <a:rPr lang="en-US" dirty="0">
                <a:effectLst/>
              </a:rPr>
              <a:t>If the temporal error was totally linear</a:t>
            </a:r>
            <a:r>
              <a:rPr lang="tr-TR" dirty="0">
                <a:effectLst/>
              </a:rPr>
              <a:t>ly effected by the distractors time</a:t>
            </a:r>
            <a:r>
              <a:rPr lang="en-US" dirty="0">
                <a:effectLst/>
              </a:rPr>
              <a:t>:</a:t>
            </a:r>
            <a:endParaRPr lang="tr-TR" dirty="0">
              <a:effectLst/>
            </a:endParaRPr>
          </a:p>
          <a:p>
            <a:pPr marL="571500" lvl="1" indent="-342900">
              <a:buFont typeface="+mj-lt"/>
              <a:buAutoNum type="arabicPeriod"/>
            </a:pPr>
            <a:endParaRPr lang="tr-TR" dirty="0"/>
          </a:p>
          <a:p>
            <a:pPr marL="571500" lvl="1" indent="-342900">
              <a:buFont typeface="+mj-lt"/>
              <a:buAutoNum type="arabicPeriod"/>
            </a:pPr>
            <a:endParaRPr lang="tr-TR" dirty="0"/>
          </a:p>
          <a:p>
            <a:pPr marL="571500" lvl="1" indent="-342900">
              <a:buFont typeface="+mj-lt"/>
              <a:buAutoNum type="arabicPeriod"/>
            </a:pPr>
            <a:endParaRPr lang="tr-TR" dirty="0"/>
          </a:p>
          <a:p>
            <a:pPr marL="571500" lvl="1" indent="-342900">
              <a:buFont typeface="+mj-lt"/>
              <a:buAutoNum type="arabicPeriod"/>
            </a:pPr>
            <a:endParaRPr lang="tr-TR" dirty="0"/>
          </a:p>
          <a:p>
            <a:pPr marL="571500" lvl="1" indent="-342900">
              <a:buFont typeface="+mj-lt"/>
              <a:buAutoNum type="arabicPeriod"/>
            </a:pPr>
            <a:r>
              <a:rPr lang="tr-TR" dirty="0"/>
              <a:t>But it is not!</a:t>
            </a:r>
          </a:p>
          <a:p>
            <a:pPr marL="754380" lvl="2" indent="-342900">
              <a:buFont typeface="+mj-lt"/>
              <a:buAutoNum type="arabicPeriod"/>
            </a:pPr>
            <a:endParaRPr lang="en-US" dirty="0"/>
          </a:p>
        </p:txBody>
      </p:sp>
      <p:pic>
        <p:nvPicPr>
          <p:cNvPr id="7" name="Picture 6">
            <a:extLst>
              <a:ext uri="{FF2B5EF4-FFF2-40B4-BE49-F238E27FC236}">
                <a16:creationId xmlns:a16="http://schemas.microsoft.com/office/drawing/2014/main" id="{02E0D4A5-F1DD-1C7B-F56D-9A16A4A7486C}"/>
              </a:ext>
            </a:extLst>
          </p:cNvPr>
          <p:cNvPicPr>
            <a:picLocks noChangeAspect="1"/>
          </p:cNvPicPr>
          <p:nvPr/>
        </p:nvPicPr>
        <p:blipFill>
          <a:blip r:embed="rId3"/>
          <a:stretch>
            <a:fillRect/>
          </a:stretch>
        </p:blipFill>
        <p:spPr>
          <a:xfrm>
            <a:off x="4655391" y="2391299"/>
            <a:ext cx="2620865" cy="750922"/>
          </a:xfrm>
          <a:prstGeom prst="rect">
            <a:avLst/>
          </a:prstGeom>
        </p:spPr>
      </p:pic>
      <p:pic>
        <p:nvPicPr>
          <p:cNvPr id="9" name="Picture 8">
            <a:extLst>
              <a:ext uri="{FF2B5EF4-FFF2-40B4-BE49-F238E27FC236}">
                <a16:creationId xmlns:a16="http://schemas.microsoft.com/office/drawing/2014/main" id="{F9E8A5A9-2A89-EAB7-BD0D-45C75DB7CB7B}"/>
              </a:ext>
            </a:extLst>
          </p:cNvPr>
          <p:cNvPicPr>
            <a:picLocks noChangeAspect="1"/>
          </p:cNvPicPr>
          <p:nvPr/>
        </p:nvPicPr>
        <p:blipFill>
          <a:blip r:embed="rId4"/>
          <a:stretch>
            <a:fillRect/>
          </a:stretch>
        </p:blipFill>
        <p:spPr>
          <a:xfrm>
            <a:off x="1905410" y="3938619"/>
            <a:ext cx="4454625" cy="750922"/>
          </a:xfrm>
          <a:prstGeom prst="rect">
            <a:avLst/>
          </a:prstGeom>
        </p:spPr>
      </p:pic>
      <p:pic>
        <p:nvPicPr>
          <p:cNvPr id="5" name="Resim 4">
            <a:extLst>
              <a:ext uri="{FF2B5EF4-FFF2-40B4-BE49-F238E27FC236}">
                <a16:creationId xmlns:a16="http://schemas.microsoft.com/office/drawing/2014/main" id="{6D7FB4F1-0696-B650-96B9-49F4234C8AFE}"/>
              </a:ext>
            </a:extLst>
          </p:cNvPr>
          <p:cNvPicPr>
            <a:picLocks noChangeAspect="1"/>
          </p:cNvPicPr>
          <p:nvPr/>
        </p:nvPicPr>
        <p:blipFill>
          <a:blip r:embed="rId5"/>
          <a:stretch>
            <a:fillRect/>
          </a:stretch>
        </p:blipFill>
        <p:spPr>
          <a:xfrm>
            <a:off x="6554766" y="3534508"/>
            <a:ext cx="3962953" cy="3124636"/>
          </a:xfrm>
          <a:prstGeom prst="rect">
            <a:avLst/>
          </a:prstGeom>
        </p:spPr>
      </p:pic>
    </p:spTree>
    <p:extLst>
      <p:ext uri="{BB962C8B-B14F-4D97-AF65-F5344CB8AC3E}">
        <p14:creationId xmlns:p14="http://schemas.microsoft.com/office/powerpoint/2010/main" val="4242989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0E5FD-B79E-3B80-9D0E-7D924A418069}"/>
              </a:ext>
            </a:extLst>
          </p:cNvPr>
          <p:cNvSpPr>
            <a:spLocks noGrp="1"/>
          </p:cNvSpPr>
          <p:nvPr>
            <p:ph type="title"/>
          </p:nvPr>
        </p:nvSpPr>
        <p:spPr/>
        <p:txBody>
          <a:bodyPr/>
          <a:lstStyle/>
          <a:p>
            <a:r>
              <a:rPr lang="en-US" dirty="0"/>
              <a:t>Equation for Perceived Time</a:t>
            </a:r>
          </a:p>
        </p:txBody>
      </p:sp>
      <p:sp>
        <p:nvSpPr>
          <p:cNvPr id="3" name="Content Placeholder 2">
            <a:extLst>
              <a:ext uri="{FF2B5EF4-FFF2-40B4-BE49-F238E27FC236}">
                <a16:creationId xmlns:a16="http://schemas.microsoft.com/office/drawing/2014/main" id="{CA97EDAE-AEAD-54F8-8EE5-9E32ADF0220A}"/>
              </a:ext>
            </a:extLst>
          </p:cNvPr>
          <p:cNvSpPr>
            <a:spLocks noGrp="1"/>
          </p:cNvSpPr>
          <p:nvPr>
            <p:ph idx="1"/>
          </p:nvPr>
        </p:nvSpPr>
        <p:spPr>
          <a:xfrm>
            <a:off x="1219200" y="2305332"/>
            <a:ext cx="9493250" cy="3854167"/>
          </a:xfrm>
        </p:spPr>
        <p:txBody>
          <a:bodyPr/>
          <a:lstStyle/>
          <a:p>
            <a:pPr marL="411480" lvl="2" indent="0">
              <a:buNone/>
            </a:pPr>
            <a:r>
              <a:rPr lang="tr-TR" b="1" dirty="0"/>
              <a:t>3. Expected trials</a:t>
            </a:r>
          </a:p>
          <a:p>
            <a:pPr lvl="2"/>
            <a:r>
              <a:rPr lang="en-US" dirty="0"/>
              <a:t>The expectation would anticipate the perceived target time</a:t>
            </a:r>
            <a:endParaRPr lang="tr-TR" dirty="0"/>
          </a:p>
          <a:p>
            <a:pPr lvl="2"/>
            <a:r>
              <a:rPr lang="en-US" dirty="0"/>
              <a:t>However</a:t>
            </a:r>
            <a:r>
              <a:rPr lang="tr-TR" dirty="0"/>
              <a:t>,</a:t>
            </a:r>
            <a:r>
              <a:rPr lang="en-US" dirty="0"/>
              <a:t> we should also consider that expectation would decrease the</a:t>
            </a:r>
            <a:r>
              <a:rPr lang="tr-TR" dirty="0"/>
              <a:t> interference</a:t>
            </a:r>
            <a:r>
              <a:rPr lang="en-US" dirty="0"/>
              <a:t> effect of distractor</a:t>
            </a:r>
            <a:endParaRPr lang="tr-TR" dirty="0"/>
          </a:p>
          <a:p>
            <a:pPr marL="411480" lvl="2" indent="0">
              <a:buNone/>
            </a:pPr>
            <a:endParaRPr lang="en-US" dirty="0"/>
          </a:p>
        </p:txBody>
      </p:sp>
      <p:pic>
        <p:nvPicPr>
          <p:cNvPr id="5" name="Picture 4">
            <a:extLst>
              <a:ext uri="{FF2B5EF4-FFF2-40B4-BE49-F238E27FC236}">
                <a16:creationId xmlns:a16="http://schemas.microsoft.com/office/drawing/2014/main" id="{FDD349AA-96C3-6271-9ECE-43E92693C035}"/>
              </a:ext>
            </a:extLst>
          </p:cNvPr>
          <p:cNvPicPr>
            <a:picLocks noChangeAspect="1"/>
          </p:cNvPicPr>
          <p:nvPr/>
        </p:nvPicPr>
        <p:blipFill>
          <a:blip r:embed="rId3"/>
          <a:stretch>
            <a:fillRect/>
          </a:stretch>
        </p:blipFill>
        <p:spPr>
          <a:xfrm>
            <a:off x="2409917" y="4008525"/>
            <a:ext cx="7372165" cy="1150990"/>
          </a:xfrm>
          <a:prstGeom prst="rect">
            <a:avLst/>
          </a:prstGeom>
        </p:spPr>
      </p:pic>
    </p:spTree>
    <p:extLst>
      <p:ext uri="{BB962C8B-B14F-4D97-AF65-F5344CB8AC3E}">
        <p14:creationId xmlns:p14="http://schemas.microsoft.com/office/powerpoint/2010/main" val="2757800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0E5FD-B79E-3B80-9D0E-7D924A418069}"/>
              </a:ext>
            </a:extLst>
          </p:cNvPr>
          <p:cNvSpPr>
            <a:spLocks noGrp="1"/>
          </p:cNvSpPr>
          <p:nvPr>
            <p:ph type="title"/>
          </p:nvPr>
        </p:nvSpPr>
        <p:spPr/>
        <p:txBody>
          <a:bodyPr/>
          <a:lstStyle/>
          <a:p>
            <a:r>
              <a:rPr lang="en-US" dirty="0"/>
              <a:t>Equation for Perceived Time</a:t>
            </a:r>
          </a:p>
        </p:txBody>
      </p:sp>
      <p:sp>
        <p:nvSpPr>
          <p:cNvPr id="3" name="Content Placeholder 2">
            <a:extLst>
              <a:ext uri="{FF2B5EF4-FFF2-40B4-BE49-F238E27FC236}">
                <a16:creationId xmlns:a16="http://schemas.microsoft.com/office/drawing/2014/main" id="{CA97EDAE-AEAD-54F8-8EE5-9E32ADF0220A}"/>
              </a:ext>
            </a:extLst>
          </p:cNvPr>
          <p:cNvSpPr>
            <a:spLocks noGrp="1"/>
          </p:cNvSpPr>
          <p:nvPr>
            <p:ph idx="1"/>
          </p:nvPr>
        </p:nvSpPr>
        <p:spPr/>
        <p:txBody>
          <a:bodyPr/>
          <a:lstStyle/>
          <a:p>
            <a:pPr marL="411480" lvl="2" indent="0">
              <a:buNone/>
            </a:pPr>
            <a:r>
              <a:rPr lang="tr-TR" b="1" dirty="0"/>
              <a:t>3. Unexpected trials </a:t>
            </a:r>
          </a:p>
          <a:p>
            <a:pPr marL="411480" lvl="2" indent="0">
              <a:buNone/>
            </a:pPr>
            <a:r>
              <a:rPr lang="en-US" dirty="0"/>
              <a:t>Rather presentation order of distractor would effect the perceived temporal error in opposite directions. Either overestimate it or underestimates.</a:t>
            </a:r>
            <a:endParaRPr lang="tr-TR" dirty="0"/>
          </a:p>
        </p:txBody>
      </p:sp>
      <p:pic>
        <p:nvPicPr>
          <p:cNvPr id="6" name="Picture 5">
            <a:extLst>
              <a:ext uri="{FF2B5EF4-FFF2-40B4-BE49-F238E27FC236}">
                <a16:creationId xmlns:a16="http://schemas.microsoft.com/office/drawing/2014/main" id="{287E1B4D-3569-9DE6-136A-0BDB73D2DCB0}"/>
              </a:ext>
            </a:extLst>
          </p:cNvPr>
          <p:cNvPicPr>
            <a:picLocks noChangeAspect="1"/>
          </p:cNvPicPr>
          <p:nvPr/>
        </p:nvPicPr>
        <p:blipFill>
          <a:blip r:embed="rId3"/>
          <a:stretch>
            <a:fillRect/>
          </a:stretch>
        </p:blipFill>
        <p:spPr>
          <a:xfrm>
            <a:off x="2734510" y="3872004"/>
            <a:ext cx="6722979" cy="1182596"/>
          </a:xfrm>
          <a:prstGeom prst="rect">
            <a:avLst/>
          </a:prstGeom>
        </p:spPr>
      </p:pic>
    </p:spTree>
    <p:extLst>
      <p:ext uri="{BB962C8B-B14F-4D97-AF65-F5344CB8AC3E}">
        <p14:creationId xmlns:p14="http://schemas.microsoft.com/office/powerpoint/2010/main" val="39652569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9E153-3CA0-A57E-CA7F-5A44FEA3D231}"/>
              </a:ext>
            </a:extLst>
          </p:cNvPr>
          <p:cNvSpPr>
            <a:spLocks noGrp="1"/>
          </p:cNvSpPr>
          <p:nvPr>
            <p:ph type="title"/>
          </p:nvPr>
        </p:nvSpPr>
        <p:spPr>
          <a:xfrm>
            <a:off x="1219200" y="365125"/>
            <a:ext cx="9493249" cy="772013"/>
          </a:xfrm>
        </p:spPr>
        <p:txBody>
          <a:bodyPr/>
          <a:lstStyle/>
          <a:p>
            <a:r>
              <a:rPr lang="tr-TR" dirty="0" err="1"/>
              <a:t>Overall</a:t>
            </a:r>
            <a:r>
              <a:rPr lang="tr-TR" dirty="0"/>
              <a:t> </a:t>
            </a:r>
            <a:r>
              <a:rPr lang="tr-TR" dirty="0" err="1"/>
              <a:t>Results</a:t>
            </a:r>
            <a:endParaRPr lang="en-US" dirty="0"/>
          </a:p>
        </p:txBody>
      </p:sp>
      <p:sp>
        <p:nvSpPr>
          <p:cNvPr id="3" name="Content Placeholder 2">
            <a:extLst>
              <a:ext uri="{FF2B5EF4-FFF2-40B4-BE49-F238E27FC236}">
                <a16:creationId xmlns:a16="http://schemas.microsoft.com/office/drawing/2014/main" id="{B40B8513-68DF-006A-6429-42E6AF8B6CA2}"/>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6CC891ED-EBC6-229F-3D86-E49812F69CCA}"/>
              </a:ext>
            </a:extLst>
          </p:cNvPr>
          <p:cNvPicPr>
            <a:picLocks noChangeAspect="1"/>
          </p:cNvPicPr>
          <p:nvPr/>
        </p:nvPicPr>
        <p:blipFill>
          <a:blip r:embed="rId2"/>
          <a:stretch>
            <a:fillRect/>
          </a:stretch>
        </p:blipFill>
        <p:spPr>
          <a:xfrm>
            <a:off x="0" y="1778664"/>
            <a:ext cx="5732585" cy="4526393"/>
          </a:xfrm>
          <a:prstGeom prst="rect">
            <a:avLst/>
          </a:prstGeom>
        </p:spPr>
      </p:pic>
      <p:pic>
        <p:nvPicPr>
          <p:cNvPr id="4" name="Picture 4">
            <a:extLst>
              <a:ext uri="{FF2B5EF4-FFF2-40B4-BE49-F238E27FC236}">
                <a16:creationId xmlns:a16="http://schemas.microsoft.com/office/drawing/2014/main" id="{6D9CF052-20B8-D1B5-437F-A858FACD8736}"/>
              </a:ext>
            </a:extLst>
          </p:cNvPr>
          <p:cNvPicPr>
            <a:picLocks noChangeAspect="1"/>
          </p:cNvPicPr>
          <p:nvPr/>
        </p:nvPicPr>
        <p:blipFill>
          <a:blip r:embed="rId3"/>
          <a:stretch>
            <a:fillRect/>
          </a:stretch>
        </p:blipFill>
        <p:spPr>
          <a:xfrm>
            <a:off x="5784906" y="1590848"/>
            <a:ext cx="6146743" cy="4902027"/>
          </a:xfrm>
          <a:prstGeom prst="rect">
            <a:avLst/>
          </a:prstGeom>
        </p:spPr>
      </p:pic>
    </p:spTree>
    <p:extLst>
      <p:ext uri="{BB962C8B-B14F-4D97-AF65-F5344CB8AC3E}">
        <p14:creationId xmlns:p14="http://schemas.microsoft.com/office/powerpoint/2010/main" val="918391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4" name="Rectangle 9">
            <a:extLst>
              <a:ext uri="{FF2B5EF4-FFF2-40B4-BE49-F238E27FC236}">
                <a16:creationId xmlns:a16="http://schemas.microsoft.com/office/drawing/2014/main" id="{BDA8F16D-E6ED-436E-BA0C-5711B96A54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C2D5486-1850-77F2-E785-0613179D1C75}"/>
              </a:ext>
            </a:extLst>
          </p:cNvPr>
          <p:cNvPicPr>
            <a:picLocks noChangeAspect="1"/>
          </p:cNvPicPr>
          <p:nvPr/>
        </p:nvPicPr>
        <p:blipFill>
          <a:blip r:embed="rId2"/>
          <a:stretch>
            <a:fillRect/>
          </a:stretch>
        </p:blipFill>
        <p:spPr>
          <a:xfrm>
            <a:off x="86211" y="1001037"/>
            <a:ext cx="5826070" cy="4602594"/>
          </a:xfrm>
          <a:prstGeom prst="rect">
            <a:avLst/>
          </a:prstGeom>
        </p:spPr>
      </p:pic>
      <p:grpSp>
        <p:nvGrpSpPr>
          <p:cNvPr id="25" name="Group 11">
            <a:extLst>
              <a:ext uri="{FF2B5EF4-FFF2-40B4-BE49-F238E27FC236}">
                <a16:creationId xmlns:a16="http://schemas.microsoft.com/office/drawing/2014/main" id="{07F03D5C-2778-4AA3-9CAE-034E41B354A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13" name="Group 12">
              <a:extLst>
                <a:ext uri="{FF2B5EF4-FFF2-40B4-BE49-F238E27FC236}">
                  <a16:creationId xmlns:a16="http://schemas.microsoft.com/office/drawing/2014/main" id="{B7ECCA3A-0659-4EC0-BA3F-B5CA3EEC602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15" name="Straight Connector 14">
                <a:extLst>
                  <a:ext uri="{FF2B5EF4-FFF2-40B4-BE49-F238E27FC236}">
                    <a16:creationId xmlns:a16="http://schemas.microsoft.com/office/drawing/2014/main" id="{5A40E924-2CF2-41A8-BBDA-C62AAA7526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15">
                <a:extLst>
                  <a:ext uri="{FF2B5EF4-FFF2-40B4-BE49-F238E27FC236}">
                    <a16:creationId xmlns:a16="http://schemas.microsoft.com/office/drawing/2014/main" id="{761D3586-77A4-487A-BEAB-4835C8F1A0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13">
              <a:extLst>
                <a:ext uri="{FF2B5EF4-FFF2-40B4-BE49-F238E27FC236}">
                  <a16:creationId xmlns:a16="http://schemas.microsoft.com/office/drawing/2014/main" id="{4C75FCAB-6D89-4593-BECF-F52AB70DA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4">
            <a:extLst>
              <a:ext uri="{FF2B5EF4-FFF2-40B4-BE49-F238E27FC236}">
                <a16:creationId xmlns:a16="http://schemas.microsoft.com/office/drawing/2014/main" id="{89315705-B240-6705-1766-116834387345}"/>
              </a:ext>
            </a:extLst>
          </p:cNvPr>
          <p:cNvPicPr>
            <a:picLocks noChangeAspect="1"/>
          </p:cNvPicPr>
          <p:nvPr/>
        </p:nvPicPr>
        <p:blipFill>
          <a:blip r:embed="rId3"/>
          <a:stretch>
            <a:fillRect/>
          </a:stretch>
        </p:blipFill>
        <p:spPr>
          <a:xfrm>
            <a:off x="6279720" y="1001037"/>
            <a:ext cx="5826070" cy="4602594"/>
          </a:xfrm>
          <a:prstGeom prst="rect">
            <a:avLst/>
          </a:prstGeom>
        </p:spPr>
      </p:pic>
    </p:spTree>
    <p:extLst>
      <p:ext uri="{BB962C8B-B14F-4D97-AF65-F5344CB8AC3E}">
        <p14:creationId xmlns:p14="http://schemas.microsoft.com/office/powerpoint/2010/main" val="22464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6AD51EB-971C-4722-9A98-42EB5ABCA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8A25F6D-688E-2E0F-6D57-EAE4097A895E}"/>
              </a:ext>
            </a:extLst>
          </p:cNvPr>
          <p:cNvSpPr>
            <a:spLocks noGrp="1"/>
          </p:cNvSpPr>
          <p:nvPr>
            <p:ph type="title"/>
          </p:nvPr>
        </p:nvSpPr>
        <p:spPr>
          <a:xfrm>
            <a:off x="303029" y="272505"/>
            <a:ext cx="3909020" cy="638908"/>
          </a:xfrm>
        </p:spPr>
        <p:txBody>
          <a:bodyPr>
            <a:normAutofit fontScale="90000"/>
          </a:bodyPr>
          <a:lstStyle/>
          <a:p>
            <a:r>
              <a:rPr lang="tr-TR" dirty="0" err="1"/>
              <a:t>Marika</a:t>
            </a:r>
            <a:endParaRPr lang="en-US" dirty="0"/>
          </a:p>
        </p:txBody>
      </p:sp>
      <p:pic>
        <p:nvPicPr>
          <p:cNvPr id="5" name="Resim 4">
            <a:extLst>
              <a:ext uri="{FF2B5EF4-FFF2-40B4-BE49-F238E27FC236}">
                <a16:creationId xmlns:a16="http://schemas.microsoft.com/office/drawing/2014/main" id="{6B03B399-B6A2-A25E-A3A1-0811E00F76E5}"/>
              </a:ext>
            </a:extLst>
          </p:cNvPr>
          <p:cNvPicPr>
            <a:picLocks noChangeAspect="1"/>
          </p:cNvPicPr>
          <p:nvPr/>
        </p:nvPicPr>
        <p:blipFill>
          <a:blip r:embed="rId2"/>
          <a:stretch>
            <a:fillRect/>
          </a:stretch>
        </p:blipFill>
        <p:spPr>
          <a:xfrm>
            <a:off x="67636" y="1172484"/>
            <a:ext cx="5981472" cy="4770223"/>
          </a:xfrm>
          <a:prstGeom prst="rect">
            <a:avLst/>
          </a:prstGeom>
        </p:spPr>
      </p:pic>
      <p:grpSp>
        <p:nvGrpSpPr>
          <p:cNvPr id="12" name="Group 11">
            <a:extLst>
              <a:ext uri="{FF2B5EF4-FFF2-40B4-BE49-F238E27FC236}">
                <a16:creationId xmlns:a16="http://schemas.microsoft.com/office/drawing/2014/main" id="{A067C78B-85E8-4F6D-8955-09EB55C8423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13" name="Group 12">
              <a:extLst>
                <a:ext uri="{FF2B5EF4-FFF2-40B4-BE49-F238E27FC236}">
                  <a16:creationId xmlns:a16="http://schemas.microsoft.com/office/drawing/2014/main" id="{8BB1DE1F-BC13-4674-9A74-6777A4E7629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15" name="Straight Connector 14">
                <a:extLst>
                  <a:ext uri="{FF2B5EF4-FFF2-40B4-BE49-F238E27FC236}">
                    <a16:creationId xmlns:a16="http://schemas.microsoft.com/office/drawing/2014/main" id="{917D1C5A-B237-41CC-AA7E-C10F94DB03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0D033FD-B77C-4E68-803F-CCEAABD96E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Oval 13">
              <a:extLst>
                <a:ext uri="{FF2B5EF4-FFF2-40B4-BE49-F238E27FC236}">
                  <a16:creationId xmlns:a16="http://schemas.microsoft.com/office/drawing/2014/main" id="{7FA2F8D1-81EE-405E-8A4A-04A30DCE44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Resim 6">
            <a:extLst>
              <a:ext uri="{FF2B5EF4-FFF2-40B4-BE49-F238E27FC236}">
                <a16:creationId xmlns:a16="http://schemas.microsoft.com/office/drawing/2014/main" id="{18665B8E-25DC-771D-A864-59A3506E502D}"/>
              </a:ext>
            </a:extLst>
          </p:cNvPr>
          <p:cNvPicPr>
            <a:picLocks noChangeAspect="1"/>
          </p:cNvPicPr>
          <p:nvPr/>
        </p:nvPicPr>
        <p:blipFill>
          <a:blip r:embed="rId3"/>
          <a:stretch>
            <a:fillRect/>
          </a:stretch>
        </p:blipFill>
        <p:spPr>
          <a:xfrm>
            <a:off x="6049108" y="1345965"/>
            <a:ext cx="5785821" cy="4568428"/>
          </a:xfrm>
          <a:prstGeom prst="rect">
            <a:avLst/>
          </a:prstGeom>
        </p:spPr>
      </p:pic>
    </p:spTree>
    <p:extLst>
      <p:ext uri="{BB962C8B-B14F-4D97-AF65-F5344CB8AC3E}">
        <p14:creationId xmlns:p14="http://schemas.microsoft.com/office/powerpoint/2010/main" val="4073178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8" name="Rectangle 13">
            <a:extLst>
              <a:ext uri="{FF2B5EF4-FFF2-40B4-BE49-F238E27FC236}">
                <a16:creationId xmlns:a16="http://schemas.microsoft.com/office/drawing/2014/main" id="{46AD51EB-971C-4722-9A98-42EB5ABCAD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Resim 8">
            <a:extLst>
              <a:ext uri="{FF2B5EF4-FFF2-40B4-BE49-F238E27FC236}">
                <a16:creationId xmlns:a16="http://schemas.microsoft.com/office/drawing/2014/main" id="{45A8FE21-E47B-D88D-2EB3-823B0629615D}"/>
              </a:ext>
            </a:extLst>
          </p:cNvPr>
          <p:cNvPicPr>
            <a:picLocks noChangeAspect="1"/>
          </p:cNvPicPr>
          <p:nvPr/>
        </p:nvPicPr>
        <p:blipFill>
          <a:blip r:embed="rId2"/>
          <a:stretch>
            <a:fillRect/>
          </a:stretch>
        </p:blipFill>
        <p:spPr>
          <a:xfrm>
            <a:off x="3913870" y="701450"/>
            <a:ext cx="3756795" cy="2967867"/>
          </a:xfrm>
          <a:prstGeom prst="rect">
            <a:avLst/>
          </a:prstGeom>
        </p:spPr>
      </p:pic>
      <p:pic>
        <p:nvPicPr>
          <p:cNvPr id="5" name="Resim 4">
            <a:extLst>
              <a:ext uri="{FF2B5EF4-FFF2-40B4-BE49-F238E27FC236}">
                <a16:creationId xmlns:a16="http://schemas.microsoft.com/office/drawing/2014/main" id="{7674848F-1770-17E0-A605-38D7C89D2649}"/>
              </a:ext>
            </a:extLst>
          </p:cNvPr>
          <p:cNvPicPr>
            <a:picLocks noChangeAspect="1"/>
          </p:cNvPicPr>
          <p:nvPr/>
        </p:nvPicPr>
        <p:blipFill>
          <a:blip r:embed="rId3"/>
          <a:stretch>
            <a:fillRect/>
          </a:stretch>
        </p:blipFill>
        <p:spPr>
          <a:xfrm>
            <a:off x="144959" y="701450"/>
            <a:ext cx="3623952" cy="2890101"/>
          </a:xfrm>
          <a:prstGeom prst="rect">
            <a:avLst/>
          </a:prstGeom>
        </p:spPr>
      </p:pic>
      <p:pic>
        <p:nvPicPr>
          <p:cNvPr id="7" name="Resim 6">
            <a:extLst>
              <a:ext uri="{FF2B5EF4-FFF2-40B4-BE49-F238E27FC236}">
                <a16:creationId xmlns:a16="http://schemas.microsoft.com/office/drawing/2014/main" id="{324C558E-84AE-6444-8667-5EF352A16A4F}"/>
              </a:ext>
            </a:extLst>
          </p:cNvPr>
          <p:cNvPicPr>
            <a:picLocks noChangeAspect="1"/>
          </p:cNvPicPr>
          <p:nvPr/>
        </p:nvPicPr>
        <p:blipFill>
          <a:blip r:embed="rId4"/>
          <a:stretch>
            <a:fillRect/>
          </a:stretch>
        </p:blipFill>
        <p:spPr>
          <a:xfrm>
            <a:off x="7882248" y="701451"/>
            <a:ext cx="3756795" cy="2967867"/>
          </a:xfrm>
          <a:prstGeom prst="rect">
            <a:avLst/>
          </a:prstGeom>
        </p:spPr>
      </p:pic>
      <p:grpSp>
        <p:nvGrpSpPr>
          <p:cNvPr id="29" name="Group 15">
            <a:extLst>
              <a:ext uri="{FF2B5EF4-FFF2-40B4-BE49-F238E27FC236}">
                <a16:creationId xmlns:a16="http://schemas.microsoft.com/office/drawing/2014/main" id="{0F2EC5F2-F5C9-4D10-88D6-E835672871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4436" y="6388259"/>
            <a:ext cx="358083" cy="368964"/>
            <a:chOff x="4135740" y="1795926"/>
            <a:chExt cx="558732" cy="575710"/>
          </a:xfrm>
        </p:grpSpPr>
        <p:grpSp>
          <p:nvGrpSpPr>
            <p:cNvPr id="17" name="Group 16">
              <a:extLst>
                <a:ext uri="{FF2B5EF4-FFF2-40B4-BE49-F238E27FC236}">
                  <a16:creationId xmlns:a16="http://schemas.microsoft.com/office/drawing/2014/main" id="{27EA9554-3373-4CB4-9381-FE1783928E2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135740" y="1795926"/>
              <a:ext cx="558732" cy="575710"/>
              <a:chOff x="1028007" y="1706560"/>
              <a:chExt cx="575710" cy="575710"/>
            </a:xfrm>
          </p:grpSpPr>
          <p:cxnSp>
            <p:nvCxnSpPr>
              <p:cNvPr id="19" name="Straight Connector 18">
                <a:extLst>
                  <a:ext uri="{FF2B5EF4-FFF2-40B4-BE49-F238E27FC236}">
                    <a16:creationId xmlns:a16="http://schemas.microsoft.com/office/drawing/2014/main" id="{A94847E1-D336-4AC0-A3E5-36065F6962D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19">
                <a:extLst>
                  <a:ext uri="{FF2B5EF4-FFF2-40B4-BE49-F238E27FC236}">
                    <a16:creationId xmlns:a16="http://schemas.microsoft.com/office/drawing/2014/main" id="{834D357D-A984-48FA-A838-07DCB7F6F1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6200000">
                <a:off x="1028007" y="1994415"/>
                <a:ext cx="57571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17">
              <a:extLst>
                <a:ext uri="{FF2B5EF4-FFF2-40B4-BE49-F238E27FC236}">
                  <a16:creationId xmlns:a16="http://schemas.microsoft.com/office/drawing/2014/main" id="{0F8DBE50-D1BF-49AB-BE23-C333C7861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36389" y="1946248"/>
              <a:ext cx="157434" cy="15743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82627429"/>
      </p:ext>
    </p:extLst>
  </p:cSld>
  <p:clrMapOvr>
    <a:masterClrMapping/>
  </p:clrMapOvr>
</p:sld>
</file>

<file path=ppt/theme/theme1.xml><?xml version="1.0" encoding="utf-8"?>
<a:theme xmlns:a="http://schemas.openxmlformats.org/drawingml/2006/main" name="StreetscapeVTI">
  <a:themeElements>
    <a:clrScheme name="AnalogousFromLightSeedLeftStep">
      <a:dk1>
        <a:srgbClr val="000000"/>
      </a:dk1>
      <a:lt1>
        <a:srgbClr val="FFFFFF"/>
      </a:lt1>
      <a:dk2>
        <a:srgbClr val="242841"/>
      </a:dk2>
      <a:lt2>
        <a:srgbClr val="E8E7E2"/>
      </a:lt2>
      <a:accent1>
        <a:srgbClr val="8891D5"/>
      </a:accent1>
      <a:accent2>
        <a:srgbClr val="6DA0CB"/>
      </a:accent2>
      <a:accent3>
        <a:srgbClr val="6EADB1"/>
      </a:accent3>
      <a:accent4>
        <a:srgbClr val="61B495"/>
      </a:accent4>
      <a:accent5>
        <a:srgbClr val="6BB47B"/>
      </a:accent5>
      <a:accent6>
        <a:srgbClr val="72B461"/>
      </a:accent6>
      <a:hlink>
        <a:srgbClr val="8A8453"/>
      </a:hlink>
      <a:folHlink>
        <a:srgbClr val="7F7F7F"/>
      </a:folHlink>
    </a:clrScheme>
    <a:fontScheme name="Street">
      <a:majorFont>
        <a:latin typeface="Franklin Gothic Heavy"/>
        <a:ea typeface=""/>
        <a:cs typeface=""/>
      </a:majorFont>
      <a:minorFont>
        <a:latin typeface="Consola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reetscapeVTI" id="{B20F88EA-96D0-4E96-9207-A1488DAC5867}" vid="{3F7E5CFE-E584-4E58-A75E-141AC45B14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1059</TotalTime>
  <Words>1238</Words>
  <Application>Microsoft Office PowerPoint</Application>
  <PresentationFormat>Geniş ekran</PresentationFormat>
  <Paragraphs>144</Paragraphs>
  <Slides>23</Slides>
  <Notes>13</Notes>
  <HiddenSlides>2</HiddenSlides>
  <MMClips>1</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23</vt:i4>
      </vt:variant>
    </vt:vector>
  </HeadingPairs>
  <TitlesOfParts>
    <vt:vector size="30" baseType="lpstr">
      <vt:lpstr>Arial</vt:lpstr>
      <vt:lpstr>Calibri</vt:lpstr>
      <vt:lpstr>Consolas</vt:lpstr>
      <vt:lpstr>Courier New</vt:lpstr>
      <vt:lpstr>Franklin Gothic Heavy</vt:lpstr>
      <vt:lpstr>Garamond</vt:lpstr>
      <vt:lpstr>StreetscapeVTI</vt:lpstr>
      <vt:lpstr>Expectation and Perceived Time</vt:lpstr>
      <vt:lpstr>PowerPoint Sunusu</vt:lpstr>
      <vt:lpstr>PowerPoint Sunusu</vt:lpstr>
      <vt:lpstr>PowerPoint Sunusu</vt:lpstr>
      <vt:lpstr>How do we study time perception?</vt:lpstr>
      <vt:lpstr>PowerPoint Sunusu</vt:lpstr>
      <vt:lpstr>Methods to gather data</vt:lpstr>
      <vt:lpstr>Interferance effect and attentional resources on duration</vt:lpstr>
      <vt:lpstr>Simillar effect on the perceived moment</vt:lpstr>
      <vt:lpstr>Simillar effect on the perceived moment</vt:lpstr>
      <vt:lpstr>Expectation and Perceived Time of Events in the Presence of Distractor</vt:lpstr>
      <vt:lpstr>Method</vt:lpstr>
      <vt:lpstr>Familiarization with time</vt:lpstr>
      <vt:lpstr>Procedure</vt:lpstr>
      <vt:lpstr>Predictions</vt:lpstr>
      <vt:lpstr>Equation for Perceived Time</vt:lpstr>
      <vt:lpstr>Equation for Perceived Time</vt:lpstr>
      <vt:lpstr>Equation for Perceived Time</vt:lpstr>
      <vt:lpstr>Equation for Perceived Time</vt:lpstr>
      <vt:lpstr>Overall Results</vt:lpstr>
      <vt:lpstr>PowerPoint Sunusu</vt:lpstr>
      <vt:lpstr>Marika</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Expectation and Perceived Time</dc:title>
  <dc:creator>Ömer Faruk Yıldıran</dc:creator>
  <cp:lastModifiedBy>Ömer Faruk</cp:lastModifiedBy>
  <cp:revision>3</cp:revision>
  <dcterms:created xsi:type="dcterms:W3CDTF">2023-05-01T09:03:12Z</dcterms:created>
  <dcterms:modified xsi:type="dcterms:W3CDTF">2023-05-02T10:14:14Z</dcterms:modified>
</cp:coreProperties>
</file>